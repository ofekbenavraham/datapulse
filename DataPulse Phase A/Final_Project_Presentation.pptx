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78" r:id="rId3"/>
    <p:sldId id="257" r:id="rId4"/>
    <p:sldId id="258" r:id="rId5"/>
    <p:sldId id="260" r:id="rId6"/>
    <p:sldId id="262" r:id="rId7"/>
    <p:sldId id="263" r:id="rId8"/>
    <p:sldId id="264" r:id="rId9"/>
    <p:sldId id="265" r:id="rId10"/>
    <p:sldId id="268" r:id="rId11"/>
    <p:sldId id="269" r:id="rId12"/>
    <p:sldId id="270" r:id="rId13"/>
    <p:sldId id="271" r:id="rId14"/>
    <p:sldId id="266" r:id="rId15"/>
    <p:sldId id="267" r:id="rId16"/>
    <p:sldId id="272" r:id="rId17"/>
    <p:sldId id="273" r:id="rId18"/>
    <p:sldId id="274" r:id="rId19"/>
    <p:sldId id="275" r:id="rId20"/>
    <p:sldId id="276" r:id="rId21"/>
    <p:sldId id="277" r:id="rId22"/>
  </p:sldIdLst>
  <p:sldSz cx="18288000" cy="10287000"/>
  <p:notesSz cx="6858000" cy="9144000"/>
  <p:embeddedFontLst>
    <p:embeddedFont>
      <p:font typeface="Open Sans Bold" panose="020B0604020202020204" charset="0"/>
      <p:regular r:id="rId24"/>
    </p:embeddedFont>
    <p:embeddedFont>
      <p:font typeface="TT Hoves" panose="020B0604020202020204" charset="0"/>
      <p:regular r:id="rId25"/>
    </p:embeddedFont>
    <p:embeddedFont>
      <p:font typeface="TT Hoves 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83" autoAdjust="0"/>
    <p:restoredTop sz="64395" autoAdjust="0"/>
  </p:normalViewPr>
  <p:slideViewPr>
    <p:cSldViewPr>
      <p:cViewPr varScale="1">
        <p:scale>
          <a:sx n="49" d="100"/>
          <a:sy n="49" d="100"/>
        </p:scale>
        <p:origin x="1962"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A34F74-1F10-4EBB-8BB1-6F1ADE8893BE}" type="datetimeFigureOut">
              <a:rPr lang="en-IL" smtClean="0"/>
              <a:t>07/09/2024</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CE6014-3A7C-432F-A142-8C79BD6F3AA2}" type="slidenum">
              <a:rPr lang="en-IL" smtClean="0"/>
              <a:t>‹#›</a:t>
            </a:fld>
            <a:endParaRPr lang="en-IL"/>
          </a:p>
        </p:txBody>
      </p:sp>
    </p:spTree>
    <p:extLst>
      <p:ext uri="{BB962C8B-B14F-4D97-AF65-F5344CB8AC3E}">
        <p14:creationId xmlns:p14="http://schemas.microsoft.com/office/powerpoint/2010/main" val="369612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79CE6014-3A7C-432F-A142-8C79BD6F3AA2}" type="slidenum">
              <a:rPr lang="en-IL" smtClean="0"/>
              <a:t>1</a:t>
            </a:fld>
            <a:endParaRPr lang="en-IL"/>
          </a:p>
        </p:txBody>
      </p:sp>
    </p:spTree>
    <p:extLst>
      <p:ext uri="{BB962C8B-B14F-4D97-AF65-F5344CB8AC3E}">
        <p14:creationId xmlns:p14="http://schemas.microsoft.com/office/powerpoint/2010/main" val="2036903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DataPulse</a:t>
            </a:r>
            <a:r>
              <a:rPr lang="en-US" dirty="0"/>
              <a:t> is a decentralized file-sharing platform designed to make sharing digital files more efficient and user-friendly. By using peer-to-peer networking, </a:t>
            </a:r>
            <a:r>
              <a:rPr lang="en-US" dirty="0" err="1"/>
              <a:t>DataPulse</a:t>
            </a:r>
            <a:r>
              <a:rPr lang="en-US" dirty="0"/>
              <a:t> allows users to share and download files directly from each other without relying on a central server. This approach helps improve download and upload speeds while ensuring that the system is easy to use for everyone.</a:t>
            </a:r>
            <a:endParaRPr lang="en-IL" dirty="0"/>
          </a:p>
        </p:txBody>
      </p:sp>
      <p:sp>
        <p:nvSpPr>
          <p:cNvPr id="4" name="Slide Number Placeholder 3"/>
          <p:cNvSpPr>
            <a:spLocks noGrp="1"/>
          </p:cNvSpPr>
          <p:nvPr>
            <p:ph type="sldNum" sz="quarter" idx="5"/>
          </p:nvPr>
        </p:nvSpPr>
        <p:spPr/>
        <p:txBody>
          <a:bodyPr/>
          <a:lstStyle/>
          <a:p>
            <a:fld id="{79CE6014-3A7C-432F-A142-8C79BD6F3AA2}" type="slidenum">
              <a:rPr lang="en-IL" smtClean="0"/>
              <a:t>2</a:t>
            </a:fld>
            <a:endParaRPr lang="en-IL"/>
          </a:p>
        </p:txBody>
      </p:sp>
    </p:spTree>
    <p:extLst>
      <p:ext uri="{BB962C8B-B14F-4D97-AF65-F5344CB8AC3E}">
        <p14:creationId xmlns:p14="http://schemas.microsoft.com/office/powerpoint/2010/main" val="2951930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The primary objective of our project is to develop a decentralized file-sharing platform that combines efficient file distribution with a user-friendly interface. Our focus is on creating a secure, reliable system that </a:t>
            </a:r>
            <a:r>
              <a:rPr lang="en-US" b="1" dirty="0"/>
              <a:t>improves</a:t>
            </a:r>
            <a:r>
              <a:rPr lang="en-US" dirty="0"/>
              <a:t> both download and upload speeds while ensuring high data availability and user friendly interface.</a:t>
            </a:r>
            <a:endParaRPr lang="en-IL" dirty="0"/>
          </a:p>
        </p:txBody>
      </p:sp>
      <p:sp>
        <p:nvSpPr>
          <p:cNvPr id="4" name="Slide Number Placeholder 3"/>
          <p:cNvSpPr>
            <a:spLocks noGrp="1"/>
          </p:cNvSpPr>
          <p:nvPr>
            <p:ph type="sldNum" sz="quarter" idx="5"/>
          </p:nvPr>
        </p:nvSpPr>
        <p:spPr/>
        <p:txBody>
          <a:bodyPr/>
          <a:lstStyle/>
          <a:p>
            <a:fld id="{79CE6014-3A7C-432F-A142-8C79BD6F3AA2}" type="slidenum">
              <a:rPr lang="en-IL" smtClean="0"/>
              <a:t>3</a:t>
            </a:fld>
            <a:endParaRPr lang="en-IL"/>
          </a:p>
        </p:txBody>
      </p:sp>
    </p:spTree>
    <p:extLst>
      <p:ext uri="{BB962C8B-B14F-4D97-AF65-F5344CB8AC3E}">
        <p14:creationId xmlns:p14="http://schemas.microsoft.com/office/powerpoint/2010/main" val="2112394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in the digital world, we’re seeing a rapid increase in the size of files—whether videos, software, or other forms of digital content. This growth poses significant challenges for traditional file-sharing systems, especially those relying on a single server for uploads and downloads.</a:t>
            </a:r>
          </a:p>
          <a:p>
            <a:endParaRPr lang="en-US" dirty="0"/>
          </a:p>
          <a:p>
            <a:r>
              <a:rPr lang="en-US" dirty="0"/>
              <a:t>One major issue is the bandwidth limitation of these single-server systems. When multiple users attempt to download or upload large files at the same time, the server can become overwhelmed, resulting in slower download speeds and a poor user experience.</a:t>
            </a:r>
            <a:endParaRPr lang="he-IL" dirty="0"/>
          </a:p>
          <a:p>
            <a:endParaRPr lang="en-US" dirty="0"/>
          </a:p>
          <a:p>
            <a:r>
              <a:rPr lang="en-US" dirty="0"/>
              <a:t>Moreover, traditional file distribution methods are often inefficient. These methods don’t fully utilize the potential of modern internet speeds, and the pressure on a single server can create bottlenecks, further slowing down the process.</a:t>
            </a:r>
          </a:p>
          <a:p>
            <a:endParaRPr lang="en-US" dirty="0"/>
          </a:p>
          <a:p>
            <a:r>
              <a:rPr lang="en-US" dirty="0"/>
              <a:t>To address some of these issues, platforms like BitTorrent and µTorrent introduced decentralized methods that improve download speeds and reduce server load. However, both platforms have their own limitations—particularly in user interface complexity, which can be challenging for less technical users.</a:t>
            </a:r>
          </a:p>
          <a:p>
            <a:endParaRPr lang="en-US" dirty="0"/>
          </a:p>
          <a:p>
            <a:r>
              <a:rPr lang="en-US" dirty="0"/>
              <a:t>With </a:t>
            </a:r>
            <a:r>
              <a:rPr lang="en-US" dirty="0" err="1"/>
              <a:t>DataPulse</a:t>
            </a:r>
            <a:r>
              <a:rPr lang="en-US" dirty="0"/>
              <a:t>, we aim to build on the strengths of these established platforms while providing a more intuitive and accessible user experience.</a:t>
            </a:r>
          </a:p>
        </p:txBody>
      </p:sp>
      <p:sp>
        <p:nvSpPr>
          <p:cNvPr id="4" name="Slide Number Placeholder 3"/>
          <p:cNvSpPr>
            <a:spLocks noGrp="1"/>
          </p:cNvSpPr>
          <p:nvPr>
            <p:ph type="sldNum" sz="quarter" idx="5"/>
          </p:nvPr>
        </p:nvSpPr>
        <p:spPr/>
        <p:txBody>
          <a:bodyPr/>
          <a:lstStyle/>
          <a:p>
            <a:fld id="{79CE6014-3A7C-432F-A142-8C79BD6F3AA2}" type="slidenum">
              <a:rPr lang="en-IL" smtClean="0"/>
              <a:t>4</a:t>
            </a:fld>
            <a:endParaRPr lang="en-IL"/>
          </a:p>
        </p:txBody>
      </p:sp>
    </p:spTree>
    <p:extLst>
      <p:ext uri="{BB962C8B-B14F-4D97-AF65-F5344CB8AC3E}">
        <p14:creationId xmlns:p14="http://schemas.microsoft.com/office/powerpoint/2010/main" val="3713774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use a decentralized approach, distributing the load across peers, making the system stronger under high traffic.</a:t>
            </a:r>
          </a:p>
          <a:p>
            <a:endParaRPr lang="en-US" dirty="0"/>
          </a:p>
          <a:p>
            <a:r>
              <a:rPr lang="en-US" dirty="0"/>
              <a:t>We optimize performance by allowing downloads from multiple sources, improving speeds and efficiency.</a:t>
            </a:r>
          </a:p>
          <a:p>
            <a:endParaRPr lang="en-US" dirty="0"/>
          </a:p>
          <a:p>
            <a:r>
              <a:rPr lang="en-US" dirty="0"/>
              <a:t>The tracker system helps users quickly find peers with the files they need.</a:t>
            </a:r>
          </a:p>
          <a:p>
            <a:endParaRPr lang="en-US" dirty="0"/>
          </a:p>
          <a:p>
            <a:r>
              <a:rPr lang="en-US" dirty="0"/>
              <a:t>Lastly, we focus on a user-friendly interface.</a:t>
            </a:r>
          </a:p>
          <a:p>
            <a:endParaRPr lang="en-US" dirty="0"/>
          </a:p>
          <a:p>
            <a:r>
              <a:rPr lang="en-US" dirty="0"/>
              <a:t>In the next slides, we'll explain how we achieve these goals.</a:t>
            </a:r>
          </a:p>
        </p:txBody>
      </p:sp>
      <p:sp>
        <p:nvSpPr>
          <p:cNvPr id="4" name="Slide Number Placeholder 3"/>
          <p:cNvSpPr>
            <a:spLocks noGrp="1"/>
          </p:cNvSpPr>
          <p:nvPr>
            <p:ph type="sldNum" sz="quarter" idx="5"/>
          </p:nvPr>
        </p:nvSpPr>
        <p:spPr/>
        <p:txBody>
          <a:bodyPr/>
          <a:lstStyle/>
          <a:p>
            <a:fld id="{79CE6014-3A7C-432F-A142-8C79BD6F3AA2}" type="slidenum">
              <a:rPr lang="en-IL" smtClean="0"/>
              <a:t>5</a:t>
            </a:fld>
            <a:endParaRPr lang="en-IL"/>
          </a:p>
        </p:txBody>
      </p:sp>
    </p:spTree>
    <p:extLst>
      <p:ext uri="{BB962C8B-B14F-4D97-AF65-F5344CB8AC3E}">
        <p14:creationId xmlns:p14="http://schemas.microsoft.com/office/powerpoint/2010/main" val="3151369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research for </a:t>
            </a:r>
            <a:r>
              <a:rPr lang="en-US" dirty="0" err="1"/>
              <a:t>DataPulse</a:t>
            </a:r>
            <a:r>
              <a:rPr lang="en-US" dirty="0"/>
              <a:t> started with a literature review to understand existing file-sharing technologies and identify areas for improvement.</a:t>
            </a:r>
          </a:p>
          <a:p>
            <a:endParaRPr lang="en-US" dirty="0"/>
          </a:p>
          <a:p>
            <a:r>
              <a:rPr lang="en-US" dirty="0"/>
              <a:t>Next, we assessed the technological feasibility by researching the protocols, frameworks, and programming languages that best for out project.</a:t>
            </a:r>
          </a:p>
          <a:p>
            <a:endParaRPr lang="en-US" dirty="0"/>
          </a:p>
          <a:p>
            <a:r>
              <a:rPr lang="en-US" dirty="0"/>
              <a:t>Finally, we gathered user feedback to refine our design and ensure it works well for actual users.</a:t>
            </a:r>
            <a:endParaRPr lang="en-IL" dirty="0"/>
          </a:p>
        </p:txBody>
      </p:sp>
      <p:sp>
        <p:nvSpPr>
          <p:cNvPr id="4" name="Slide Number Placeholder 3"/>
          <p:cNvSpPr>
            <a:spLocks noGrp="1"/>
          </p:cNvSpPr>
          <p:nvPr>
            <p:ph type="sldNum" sz="quarter" idx="5"/>
          </p:nvPr>
        </p:nvSpPr>
        <p:spPr/>
        <p:txBody>
          <a:bodyPr/>
          <a:lstStyle/>
          <a:p>
            <a:fld id="{79CE6014-3A7C-432F-A142-8C79BD6F3AA2}" type="slidenum">
              <a:rPr lang="en-IL" smtClean="0"/>
              <a:t>6</a:t>
            </a:fld>
            <a:endParaRPr lang="en-IL"/>
          </a:p>
        </p:txBody>
      </p:sp>
    </p:spTree>
    <p:extLst>
      <p:ext uri="{BB962C8B-B14F-4D97-AF65-F5344CB8AC3E}">
        <p14:creationId xmlns:p14="http://schemas.microsoft.com/office/powerpoint/2010/main" val="2986068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development process will use Test-Driven Development, or TDD, a methodology where tests are written before code. TDD is well-suited for our project because it helps ensure that each part of the system is completely tested and reliable from the start.</a:t>
            </a:r>
            <a:endParaRPr lang="en-IL" dirty="0"/>
          </a:p>
        </p:txBody>
      </p:sp>
      <p:sp>
        <p:nvSpPr>
          <p:cNvPr id="4" name="Slide Number Placeholder 3"/>
          <p:cNvSpPr>
            <a:spLocks noGrp="1"/>
          </p:cNvSpPr>
          <p:nvPr>
            <p:ph type="sldNum" sz="quarter" idx="5"/>
          </p:nvPr>
        </p:nvSpPr>
        <p:spPr/>
        <p:txBody>
          <a:bodyPr/>
          <a:lstStyle/>
          <a:p>
            <a:fld id="{79CE6014-3A7C-432F-A142-8C79BD6F3AA2}" type="slidenum">
              <a:rPr lang="en-IL" smtClean="0"/>
              <a:t>7</a:t>
            </a:fld>
            <a:endParaRPr lang="en-IL"/>
          </a:p>
        </p:txBody>
      </p:sp>
    </p:spTree>
    <p:extLst>
      <p:ext uri="{BB962C8B-B14F-4D97-AF65-F5344CB8AC3E}">
        <p14:creationId xmlns:p14="http://schemas.microsoft.com/office/powerpoint/2010/main" val="2309417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algorithms, we’ll start with P2P networking algorithms to manage peer discovery and data transfer efficiently.</a:t>
            </a:r>
          </a:p>
          <a:p>
            <a:endParaRPr lang="en-US" dirty="0"/>
          </a:p>
          <a:p>
            <a:r>
              <a:rPr lang="en-US" dirty="0"/>
              <a:t>In terms of encryption, </a:t>
            </a:r>
            <a:r>
              <a:rPr lang="en-US" dirty="0" err="1"/>
              <a:t>DataPulse</a:t>
            </a:r>
            <a:r>
              <a:rPr lang="en-US" dirty="0"/>
              <a:t> will use AES  and SSL  to ensure robust security and privacy. AES is a widely-used encryption standard that will protect the data stored and shared within the network. SSL will be used to secure data transmission between peers, encrypting the data as it moves across the network to prevent interception or unauthorized access. </a:t>
            </a:r>
          </a:p>
          <a:p>
            <a:endParaRPr lang="en-US" dirty="0"/>
          </a:p>
          <a:p>
            <a:r>
              <a:rPr lang="en-US" dirty="0"/>
              <a:t>Additionally,  error correction algorithms will maintain data integrity and availability, even if some peers go offline or errors occur during transfers.</a:t>
            </a:r>
          </a:p>
          <a:p>
            <a:endParaRPr lang="en-US" dirty="0"/>
          </a:p>
          <a:p>
            <a:r>
              <a:rPr lang="en-US" dirty="0"/>
              <a:t>On the technology side, Python is our choice for the backend, offering flexibility and strong support for web applications. Angular will power the frontend, ensuring a responsive and dynamic user interface. MongoDB will be used for the database, known for its scalability and capacity to manage large datasets. Finally, WebRTC will handle networking, enabling real-time peer-to-peer communication essential for a decentralized system.</a:t>
            </a:r>
            <a:endParaRPr lang="en-IL" dirty="0"/>
          </a:p>
        </p:txBody>
      </p:sp>
      <p:sp>
        <p:nvSpPr>
          <p:cNvPr id="4" name="Slide Number Placeholder 3"/>
          <p:cNvSpPr>
            <a:spLocks noGrp="1"/>
          </p:cNvSpPr>
          <p:nvPr>
            <p:ph type="sldNum" sz="quarter" idx="5"/>
          </p:nvPr>
        </p:nvSpPr>
        <p:spPr/>
        <p:txBody>
          <a:bodyPr/>
          <a:lstStyle/>
          <a:p>
            <a:fld id="{79CE6014-3A7C-432F-A142-8C79BD6F3AA2}" type="slidenum">
              <a:rPr lang="en-IL" smtClean="0"/>
              <a:t>8</a:t>
            </a:fld>
            <a:endParaRPr lang="en-IL"/>
          </a:p>
        </p:txBody>
      </p:sp>
    </p:spTree>
    <p:extLst>
      <p:ext uri="{BB962C8B-B14F-4D97-AF65-F5344CB8AC3E}">
        <p14:creationId xmlns:p14="http://schemas.microsoft.com/office/powerpoint/2010/main" val="32577453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 stages of our development process, as outlined in the points on the slide. Each stage represents a crucial step in bringing </a:t>
            </a:r>
            <a:r>
              <a:rPr lang="en-US" dirty="0" err="1"/>
              <a:t>DataPulse</a:t>
            </a:r>
            <a:r>
              <a:rPr lang="en-US" dirty="0"/>
              <a:t> to life, so there’s no need to expand beyond them.</a:t>
            </a:r>
            <a:endParaRPr lang="en-IL" dirty="0"/>
          </a:p>
        </p:txBody>
      </p:sp>
      <p:sp>
        <p:nvSpPr>
          <p:cNvPr id="4" name="Slide Number Placeholder 3"/>
          <p:cNvSpPr>
            <a:spLocks noGrp="1"/>
          </p:cNvSpPr>
          <p:nvPr>
            <p:ph type="sldNum" sz="quarter" idx="5"/>
          </p:nvPr>
        </p:nvSpPr>
        <p:spPr/>
        <p:txBody>
          <a:bodyPr/>
          <a:lstStyle/>
          <a:p>
            <a:fld id="{79CE6014-3A7C-432F-A142-8C79BD6F3AA2}" type="slidenum">
              <a:rPr lang="en-IL" smtClean="0"/>
              <a:t>9</a:t>
            </a:fld>
            <a:endParaRPr lang="en-IL"/>
          </a:p>
        </p:txBody>
      </p:sp>
    </p:spTree>
    <p:extLst>
      <p:ext uri="{BB962C8B-B14F-4D97-AF65-F5344CB8AC3E}">
        <p14:creationId xmlns:p14="http://schemas.microsoft.com/office/powerpoint/2010/main" val="2369957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has three main parts: Users, the System, and Peers. </a:t>
            </a:r>
          </a:p>
          <a:p>
            <a:r>
              <a:rPr lang="en-US" dirty="0"/>
              <a:t>These diagrams show how things work in the </a:t>
            </a:r>
            <a:r>
              <a:rPr lang="en-US" dirty="0" err="1"/>
              <a:t>DataPulse</a:t>
            </a:r>
            <a:r>
              <a:rPr lang="en-US" dirty="0"/>
              <a:t> system using both ACTIVITY and SEQUENCE diagrams. Now, let's focus on the UPLOAD FILE process.</a:t>
            </a:r>
          </a:p>
        </p:txBody>
      </p:sp>
      <p:sp>
        <p:nvSpPr>
          <p:cNvPr id="4" name="Slide Number Placeholder 3"/>
          <p:cNvSpPr>
            <a:spLocks noGrp="1"/>
          </p:cNvSpPr>
          <p:nvPr>
            <p:ph type="sldNum" sz="quarter" idx="5"/>
          </p:nvPr>
        </p:nvSpPr>
        <p:spPr/>
        <p:txBody>
          <a:bodyPr/>
          <a:lstStyle/>
          <a:p>
            <a:fld id="{79CE6014-3A7C-432F-A142-8C79BD6F3AA2}" type="slidenum">
              <a:rPr lang="en-IL" smtClean="0"/>
              <a:t>10</a:t>
            </a:fld>
            <a:endParaRPr lang="en-IL"/>
          </a:p>
        </p:txBody>
      </p:sp>
    </p:spTree>
    <p:extLst>
      <p:ext uri="{BB962C8B-B14F-4D97-AF65-F5344CB8AC3E}">
        <p14:creationId xmlns:p14="http://schemas.microsoft.com/office/powerpoint/2010/main" val="21628955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starts by selecting a file in the Angular-based UI. The UI sends this request to the backend server in Python, which checks the user’s permissions with the MongoDB database. Once verified, the backend checks for storage space in the WebRTC-based P2P network. The file is then split into segments, encrypted, and sent to peers for storage. The database tracks where the file is stored, and finally, the system confirms the upload and shows a success message to the user in the UI.</a:t>
            </a:r>
          </a:p>
        </p:txBody>
      </p:sp>
      <p:sp>
        <p:nvSpPr>
          <p:cNvPr id="4" name="Slide Number Placeholder 3"/>
          <p:cNvSpPr>
            <a:spLocks noGrp="1"/>
          </p:cNvSpPr>
          <p:nvPr>
            <p:ph type="sldNum" sz="quarter" idx="5"/>
          </p:nvPr>
        </p:nvSpPr>
        <p:spPr/>
        <p:txBody>
          <a:bodyPr/>
          <a:lstStyle/>
          <a:p>
            <a:fld id="{79CE6014-3A7C-432F-A142-8C79BD6F3AA2}" type="slidenum">
              <a:rPr lang="en-IL" smtClean="0"/>
              <a:t>11</a:t>
            </a:fld>
            <a:endParaRPr lang="en-IL"/>
          </a:p>
        </p:txBody>
      </p:sp>
    </p:spTree>
    <p:extLst>
      <p:ext uri="{BB962C8B-B14F-4D97-AF65-F5344CB8AC3E}">
        <p14:creationId xmlns:p14="http://schemas.microsoft.com/office/powerpoint/2010/main" val="27674166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process for downloading.</a:t>
            </a:r>
            <a:endParaRPr lang="en-IL" dirty="0"/>
          </a:p>
        </p:txBody>
      </p:sp>
      <p:sp>
        <p:nvSpPr>
          <p:cNvPr id="4" name="Slide Number Placeholder 3"/>
          <p:cNvSpPr>
            <a:spLocks noGrp="1"/>
          </p:cNvSpPr>
          <p:nvPr>
            <p:ph type="sldNum" sz="quarter" idx="5"/>
          </p:nvPr>
        </p:nvSpPr>
        <p:spPr/>
        <p:txBody>
          <a:bodyPr/>
          <a:lstStyle/>
          <a:p>
            <a:fld id="{79CE6014-3A7C-432F-A142-8C79BD6F3AA2}" type="slidenum">
              <a:rPr lang="en-IL" smtClean="0"/>
              <a:t>12</a:t>
            </a:fld>
            <a:endParaRPr lang="en-IL"/>
          </a:p>
        </p:txBody>
      </p:sp>
    </p:spTree>
    <p:extLst>
      <p:ext uri="{BB962C8B-B14F-4D97-AF65-F5344CB8AC3E}">
        <p14:creationId xmlns:p14="http://schemas.microsoft.com/office/powerpoint/2010/main" val="35261239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process for search</a:t>
            </a:r>
          </a:p>
        </p:txBody>
      </p:sp>
      <p:sp>
        <p:nvSpPr>
          <p:cNvPr id="4" name="Slide Number Placeholder 3"/>
          <p:cNvSpPr>
            <a:spLocks noGrp="1"/>
          </p:cNvSpPr>
          <p:nvPr>
            <p:ph type="sldNum" sz="quarter" idx="5"/>
          </p:nvPr>
        </p:nvSpPr>
        <p:spPr/>
        <p:txBody>
          <a:bodyPr/>
          <a:lstStyle/>
          <a:p>
            <a:fld id="{79CE6014-3A7C-432F-A142-8C79BD6F3AA2}" type="slidenum">
              <a:rPr lang="en-IL" smtClean="0"/>
              <a:t>13</a:t>
            </a:fld>
            <a:endParaRPr lang="en-IL"/>
          </a:p>
        </p:txBody>
      </p:sp>
    </p:spTree>
    <p:extLst>
      <p:ext uri="{BB962C8B-B14F-4D97-AF65-F5344CB8AC3E}">
        <p14:creationId xmlns:p14="http://schemas.microsoft.com/office/powerpoint/2010/main" val="32395385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there’s a sidebar with two options: Torrents and Offers. </a:t>
            </a:r>
          </a:p>
          <a:p>
            <a:r>
              <a:rPr lang="en-US" dirty="0"/>
              <a:t>The Torrents section shows details like file name, size, download speed, and current progress. </a:t>
            </a:r>
          </a:p>
          <a:p>
            <a:r>
              <a:rPr lang="en-US" dirty="0"/>
              <a:t>The interface is designed to be user-friendly, with all the important information easy to find.</a:t>
            </a:r>
          </a:p>
        </p:txBody>
      </p:sp>
      <p:sp>
        <p:nvSpPr>
          <p:cNvPr id="4" name="Slide Number Placeholder 3"/>
          <p:cNvSpPr>
            <a:spLocks noGrp="1"/>
          </p:cNvSpPr>
          <p:nvPr>
            <p:ph type="sldNum" sz="quarter" idx="5"/>
          </p:nvPr>
        </p:nvSpPr>
        <p:spPr/>
        <p:txBody>
          <a:bodyPr/>
          <a:lstStyle/>
          <a:p>
            <a:fld id="{79CE6014-3A7C-432F-A142-8C79BD6F3AA2}" type="slidenum">
              <a:rPr lang="en-IL" smtClean="0"/>
              <a:t>14</a:t>
            </a:fld>
            <a:endParaRPr lang="en-IL"/>
          </a:p>
        </p:txBody>
      </p:sp>
    </p:spTree>
    <p:extLst>
      <p:ext uri="{BB962C8B-B14F-4D97-AF65-F5344CB8AC3E}">
        <p14:creationId xmlns:p14="http://schemas.microsoft.com/office/powerpoint/2010/main" val="10885250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design for the Offers screen in </a:t>
            </a:r>
            <a:r>
              <a:rPr lang="en-US" dirty="0" err="1"/>
              <a:t>DataPulse</a:t>
            </a:r>
            <a:r>
              <a:rPr lang="en-US" dirty="0"/>
              <a:t>.</a:t>
            </a:r>
          </a:p>
          <a:p>
            <a:r>
              <a:rPr lang="en-US" dirty="0"/>
              <a:t>At the top, there’s a navigation bar with categories like Movies, TV Shows, Games, and Programs, making it easy to find specific offers.</a:t>
            </a:r>
          </a:p>
          <a:p>
            <a:r>
              <a:rPr lang="en-US" dirty="0"/>
              <a:t>The main section shows offers as cards with download buttons, giving a Netflix-like browsing experience. This design makes it simple for users to find and download the content they want.</a:t>
            </a:r>
          </a:p>
        </p:txBody>
      </p:sp>
      <p:sp>
        <p:nvSpPr>
          <p:cNvPr id="4" name="Slide Number Placeholder 3"/>
          <p:cNvSpPr>
            <a:spLocks noGrp="1"/>
          </p:cNvSpPr>
          <p:nvPr>
            <p:ph type="sldNum" sz="quarter" idx="5"/>
          </p:nvPr>
        </p:nvSpPr>
        <p:spPr/>
        <p:txBody>
          <a:bodyPr/>
          <a:lstStyle/>
          <a:p>
            <a:fld id="{79CE6014-3A7C-432F-A142-8C79BD6F3AA2}" type="slidenum">
              <a:rPr lang="en-IL" smtClean="0"/>
              <a:t>15</a:t>
            </a:fld>
            <a:endParaRPr lang="en-IL"/>
          </a:p>
        </p:txBody>
      </p:sp>
    </p:spTree>
    <p:extLst>
      <p:ext uri="{BB962C8B-B14F-4D97-AF65-F5344CB8AC3E}">
        <p14:creationId xmlns:p14="http://schemas.microsoft.com/office/powerpoint/2010/main" val="37138878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DataPulse</a:t>
            </a:r>
            <a:r>
              <a:rPr lang="en-US" dirty="0"/>
              <a:t> stands out from other file sharing platforms with several features.</a:t>
            </a:r>
          </a:p>
          <a:p>
            <a:r>
              <a:rPr lang="en-US" dirty="0"/>
              <a:t>First, it offers a Netflix-like experience where users can easily browse and select files just like streaming movies. It makes file sharing more fun and easy to use.</a:t>
            </a:r>
          </a:p>
          <a:p>
            <a:r>
              <a:rPr lang="en-US" dirty="0"/>
              <a:t>Also the navigation will be simple. Unlike other platforms that have complicated menus, </a:t>
            </a:r>
            <a:r>
              <a:rPr lang="en-US" dirty="0" err="1"/>
              <a:t>DataPulse</a:t>
            </a:r>
            <a:r>
              <a:rPr lang="en-US" dirty="0"/>
              <a:t> will have a user-friendly interface that makes it easy to manage downloads and uploads.</a:t>
            </a:r>
            <a:endParaRPr lang="en-IL" dirty="0"/>
          </a:p>
        </p:txBody>
      </p:sp>
      <p:sp>
        <p:nvSpPr>
          <p:cNvPr id="4" name="Slide Number Placeholder 3"/>
          <p:cNvSpPr>
            <a:spLocks noGrp="1"/>
          </p:cNvSpPr>
          <p:nvPr>
            <p:ph type="sldNum" sz="quarter" idx="5"/>
          </p:nvPr>
        </p:nvSpPr>
        <p:spPr/>
        <p:txBody>
          <a:bodyPr/>
          <a:lstStyle/>
          <a:p>
            <a:fld id="{79CE6014-3A7C-432F-A142-8C79BD6F3AA2}" type="slidenum">
              <a:rPr lang="en-IL" smtClean="0"/>
              <a:t>16</a:t>
            </a:fld>
            <a:endParaRPr lang="en-IL"/>
          </a:p>
        </p:txBody>
      </p:sp>
    </p:spTree>
    <p:extLst>
      <p:ext uri="{BB962C8B-B14F-4D97-AF65-F5344CB8AC3E}">
        <p14:creationId xmlns:p14="http://schemas.microsoft.com/office/powerpoint/2010/main" val="10275789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building </a:t>
            </a:r>
            <a:r>
              <a:rPr lang="en-US" dirty="0" err="1"/>
              <a:t>DataPulse</a:t>
            </a:r>
            <a:r>
              <a:rPr lang="en-US" dirty="0"/>
              <a:t>, we expect to face some challenges.</a:t>
            </a:r>
          </a:p>
          <a:p>
            <a:r>
              <a:rPr lang="en-US" dirty="0"/>
              <a:t>First, handling high traffic ,we need to ensure it stays fast and works well, even when many users are connected at the same time.</a:t>
            </a:r>
          </a:p>
          <a:p>
            <a:r>
              <a:rPr lang="en-US" dirty="0"/>
              <a:t>Next, ensuring data integrity is important. We need to make sure the data is correct, even when users join or leave the network.</a:t>
            </a:r>
          </a:p>
          <a:p>
            <a:r>
              <a:rPr lang="en-US" dirty="0"/>
              <a:t>Security is always important in file sharing. We will use encryption and other security protocols to protect user data. </a:t>
            </a:r>
          </a:p>
          <a:p>
            <a:r>
              <a:rPr lang="en-US" dirty="0"/>
              <a:t>Finally, listening to user feedback is key to improving the platform. We will work on finding the right balance between what users want and keeping the system running well.</a:t>
            </a:r>
          </a:p>
        </p:txBody>
      </p:sp>
      <p:sp>
        <p:nvSpPr>
          <p:cNvPr id="4" name="Slide Number Placeholder 3"/>
          <p:cNvSpPr>
            <a:spLocks noGrp="1"/>
          </p:cNvSpPr>
          <p:nvPr>
            <p:ph type="sldNum" sz="quarter" idx="5"/>
          </p:nvPr>
        </p:nvSpPr>
        <p:spPr/>
        <p:txBody>
          <a:bodyPr/>
          <a:lstStyle/>
          <a:p>
            <a:fld id="{79CE6014-3A7C-432F-A142-8C79BD6F3AA2}" type="slidenum">
              <a:rPr lang="en-IL" smtClean="0"/>
              <a:t>17</a:t>
            </a:fld>
            <a:endParaRPr lang="en-IL"/>
          </a:p>
        </p:txBody>
      </p:sp>
    </p:spTree>
    <p:extLst>
      <p:ext uri="{BB962C8B-B14F-4D97-AF65-F5344CB8AC3E}">
        <p14:creationId xmlns:p14="http://schemas.microsoft.com/office/powerpoint/2010/main" val="22205564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a testing process to make sure </a:t>
            </a:r>
            <a:r>
              <a:rPr lang="en-US" dirty="0" err="1"/>
              <a:t>DataPulse</a:t>
            </a:r>
            <a:r>
              <a:rPr lang="en-US" dirty="0"/>
              <a:t> is working well and is secure.</a:t>
            </a:r>
          </a:p>
          <a:p>
            <a:r>
              <a:rPr lang="en-US" dirty="0"/>
              <a:t>First, </a:t>
            </a:r>
            <a:r>
              <a:rPr lang="en-US" b="1" dirty="0"/>
              <a:t>unit testing </a:t>
            </a:r>
            <a:r>
              <a:rPr lang="en-US" dirty="0"/>
              <a:t>to check that each part of the system is working well.</a:t>
            </a:r>
          </a:p>
          <a:p>
            <a:r>
              <a:rPr lang="en-US" dirty="0"/>
              <a:t>Next, </a:t>
            </a:r>
            <a:r>
              <a:rPr lang="en-US" b="1" dirty="0"/>
              <a:t>integration testing </a:t>
            </a:r>
            <a:r>
              <a:rPr lang="en-US" dirty="0"/>
              <a:t>to make sure all parts of the system work well together.</a:t>
            </a:r>
          </a:p>
          <a:p>
            <a:r>
              <a:rPr lang="en-US" b="1" dirty="0"/>
              <a:t>system testing, </a:t>
            </a:r>
            <a:r>
              <a:rPr lang="en-US" dirty="0"/>
              <a:t>where we will check that it meets all the requirements.</a:t>
            </a:r>
          </a:p>
          <a:p>
            <a:r>
              <a:rPr lang="en-US" b="1" dirty="0"/>
              <a:t>performance testing </a:t>
            </a:r>
            <a:r>
              <a:rPr lang="en-US" dirty="0"/>
              <a:t>to see if it works well with many users.</a:t>
            </a:r>
          </a:p>
          <a:p>
            <a:r>
              <a:rPr lang="en-US" b="1" dirty="0"/>
              <a:t>Security testing </a:t>
            </a:r>
            <a:r>
              <a:rPr lang="en-US" dirty="0"/>
              <a:t>to find and fix security issues.</a:t>
            </a:r>
          </a:p>
          <a:p>
            <a:r>
              <a:rPr lang="en-US" dirty="0"/>
              <a:t>Finally, </a:t>
            </a:r>
            <a:r>
              <a:rPr lang="en-US" b="1" dirty="0"/>
              <a:t>usability testing </a:t>
            </a:r>
            <a:r>
              <a:rPr lang="en-US" dirty="0"/>
              <a:t>to make sure the interface is easy to use and gives all users a friendly experience.</a:t>
            </a:r>
            <a:endParaRPr lang="en-IL" dirty="0"/>
          </a:p>
        </p:txBody>
      </p:sp>
      <p:sp>
        <p:nvSpPr>
          <p:cNvPr id="4" name="Slide Number Placeholder 3"/>
          <p:cNvSpPr>
            <a:spLocks noGrp="1"/>
          </p:cNvSpPr>
          <p:nvPr>
            <p:ph type="sldNum" sz="quarter" idx="5"/>
          </p:nvPr>
        </p:nvSpPr>
        <p:spPr/>
        <p:txBody>
          <a:bodyPr/>
          <a:lstStyle/>
          <a:p>
            <a:fld id="{79CE6014-3A7C-432F-A142-8C79BD6F3AA2}" type="slidenum">
              <a:rPr lang="en-IL" smtClean="0"/>
              <a:t>18</a:t>
            </a:fld>
            <a:endParaRPr lang="en-IL"/>
          </a:p>
        </p:txBody>
      </p:sp>
    </p:spTree>
    <p:extLst>
      <p:ext uri="{BB962C8B-B14F-4D97-AF65-F5344CB8AC3E}">
        <p14:creationId xmlns:p14="http://schemas.microsoft.com/office/powerpoint/2010/main" val="2188693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testing process will follow a clear plan:</a:t>
            </a:r>
          </a:p>
          <a:p>
            <a:r>
              <a:rPr lang="en-US" dirty="0"/>
              <a:t>First, we will create a system that is like the real system where people will use the platform.</a:t>
            </a:r>
          </a:p>
          <a:p>
            <a:r>
              <a:rPr lang="en-US" dirty="0"/>
              <a:t>Next, create test cases that cover all the important parts of the platform, making sure we test every possible function and issue.</a:t>
            </a:r>
          </a:p>
          <a:p>
            <a:r>
              <a:rPr lang="en-US" dirty="0"/>
              <a:t>Once the test cases are ready, we will carefully run the tests to find bugs, performance issues or security issues.</a:t>
            </a:r>
          </a:p>
          <a:p>
            <a:r>
              <a:rPr lang="en-US" dirty="0"/>
              <a:t>After the tests, we will look at the results to see how the system is working and find out what needs to be fixed.</a:t>
            </a:r>
          </a:p>
          <a:p>
            <a:r>
              <a:rPr lang="en-US" dirty="0"/>
              <a:t>After that, we will fix all the problems we found during the test and improve the system.</a:t>
            </a:r>
          </a:p>
          <a:p>
            <a:r>
              <a:rPr lang="en-US"/>
              <a:t>Finally, we'll check back to make sure the issues are resolved</a:t>
            </a:r>
            <a:endParaRPr lang="en-IL" dirty="0"/>
          </a:p>
        </p:txBody>
      </p:sp>
      <p:sp>
        <p:nvSpPr>
          <p:cNvPr id="4" name="Slide Number Placeholder 3"/>
          <p:cNvSpPr>
            <a:spLocks noGrp="1"/>
          </p:cNvSpPr>
          <p:nvPr>
            <p:ph type="sldNum" sz="quarter" idx="5"/>
          </p:nvPr>
        </p:nvSpPr>
        <p:spPr/>
        <p:txBody>
          <a:bodyPr/>
          <a:lstStyle/>
          <a:p>
            <a:fld id="{79CE6014-3A7C-432F-A142-8C79BD6F3AA2}" type="slidenum">
              <a:rPr lang="en-IL" smtClean="0"/>
              <a:t>19</a:t>
            </a:fld>
            <a:endParaRPr lang="en-IL"/>
          </a:p>
        </p:txBody>
      </p:sp>
    </p:spTree>
    <p:extLst>
      <p:ext uri="{BB962C8B-B14F-4D97-AF65-F5344CB8AC3E}">
        <p14:creationId xmlns:p14="http://schemas.microsoft.com/office/powerpoint/2010/main" val="32015782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results we expect in our system</a:t>
            </a:r>
          </a:p>
        </p:txBody>
      </p:sp>
      <p:sp>
        <p:nvSpPr>
          <p:cNvPr id="4" name="Slide Number Placeholder 3"/>
          <p:cNvSpPr>
            <a:spLocks noGrp="1"/>
          </p:cNvSpPr>
          <p:nvPr>
            <p:ph type="sldNum" sz="quarter" idx="5"/>
          </p:nvPr>
        </p:nvSpPr>
        <p:spPr/>
        <p:txBody>
          <a:bodyPr/>
          <a:lstStyle/>
          <a:p>
            <a:fld id="{79CE6014-3A7C-432F-A142-8C79BD6F3AA2}" type="slidenum">
              <a:rPr lang="en-IL" smtClean="0"/>
              <a:t>20</a:t>
            </a:fld>
            <a:endParaRPr lang="en-IL"/>
          </a:p>
        </p:txBody>
      </p:sp>
    </p:spTree>
    <p:extLst>
      <p:ext uri="{BB962C8B-B14F-4D97-AF65-F5344CB8AC3E}">
        <p14:creationId xmlns:p14="http://schemas.microsoft.com/office/powerpoint/2010/main" val="11674175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79CE6014-3A7C-432F-A142-8C79BD6F3AA2}" type="slidenum">
              <a:rPr lang="en-IL" smtClean="0"/>
              <a:t>21</a:t>
            </a:fld>
            <a:endParaRPr lang="en-IL"/>
          </a:p>
        </p:txBody>
      </p:sp>
    </p:spTree>
    <p:extLst>
      <p:ext uri="{BB962C8B-B14F-4D97-AF65-F5344CB8AC3E}">
        <p14:creationId xmlns:p14="http://schemas.microsoft.com/office/powerpoint/2010/main" val="2013646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154665" y="-278009"/>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1E1E1">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TextBox 6"/>
          <p:cNvSpPr txBox="1"/>
          <p:nvPr/>
        </p:nvSpPr>
        <p:spPr>
          <a:xfrm>
            <a:off x="4027516" y="857615"/>
            <a:ext cx="9948063" cy="2571750"/>
          </a:xfrm>
          <a:prstGeom prst="rect">
            <a:avLst/>
          </a:prstGeom>
        </p:spPr>
        <p:txBody>
          <a:bodyPr lIns="0" tIns="0" rIns="0" bIns="0" rtlCol="0" anchor="t">
            <a:spAutoFit/>
          </a:bodyPr>
          <a:lstStyle/>
          <a:p>
            <a:pPr algn="ctr">
              <a:lnSpc>
                <a:spcPts val="21000"/>
              </a:lnSpc>
              <a:spcBef>
                <a:spcPct val="0"/>
              </a:spcBef>
            </a:pPr>
            <a:r>
              <a:rPr lang="en-US" sz="15000">
                <a:solidFill>
                  <a:srgbClr val="000000"/>
                </a:solidFill>
                <a:latin typeface="TT Hoves Bold"/>
                <a:ea typeface="TT Hoves Bold"/>
                <a:cs typeface="TT Hoves Bold"/>
                <a:sym typeface="TT Hoves Bold"/>
              </a:rPr>
              <a:t>Data Pulse</a:t>
            </a:r>
          </a:p>
        </p:txBody>
      </p:sp>
      <p:sp>
        <p:nvSpPr>
          <p:cNvPr id="7" name="TextBox 7"/>
          <p:cNvSpPr txBox="1"/>
          <p:nvPr/>
        </p:nvSpPr>
        <p:spPr>
          <a:xfrm>
            <a:off x="7585339" y="5669801"/>
            <a:ext cx="3117321" cy="537846"/>
          </a:xfrm>
          <a:prstGeom prst="rect">
            <a:avLst/>
          </a:prstGeom>
        </p:spPr>
        <p:txBody>
          <a:bodyPr lIns="0" tIns="0" rIns="0" bIns="0" rtlCol="0" anchor="t">
            <a:spAutoFit/>
          </a:bodyPr>
          <a:lstStyle/>
          <a:p>
            <a:pPr algn="ctr">
              <a:lnSpc>
                <a:spcPts val="4479"/>
              </a:lnSpc>
              <a:spcBef>
                <a:spcPct val="0"/>
              </a:spcBef>
            </a:pPr>
            <a:r>
              <a:rPr lang="en-US" sz="3199">
                <a:solidFill>
                  <a:srgbClr val="000000"/>
                </a:solidFill>
                <a:latin typeface="TT Hoves"/>
                <a:ea typeface="TT Hoves"/>
                <a:cs typeface="TT Hoves"/>
                <a:sym typeface="TT Hoves"/>
              </a:rPr>
              <a:t>Rotem Porat</a:t>
            </a:r>
          </a:p>
        </p:txBody>
      </p:sp>
      <p:sp>
        <p:nvSpPr>
          <p:cNvPr id="8" name="TextBox 8"/>
          <p:cNvSpPr txBox="1"/>
          <p:nvPr/>
        </p:nvSpPr>
        <p:spPr>
          <a:xfrm>
            <a:off x="7356010" y="6265003"/>
            <a:ext cx="3575980" cy="537846"/>
          </a:xfrm>
          <a:prstGeom prst="rect">
            <a:avLst/>
          </a:prstGeom>
        </p:spPr>
        <p:txBody>
          <a:bodyPr lIns="0" tIns="0" rIns="0" bIns="0" rtlCol="0" anchor="t">
            <a:spAutoFit/>
          </a:bodyPr>
          <a:lstStyle/>
          <a:p>
            <a:pPr algn="ctr">
              <a:lnSpc>
                <a:spcPts val="4479"/>
              </a:lnSpc>
              <a:spcBef>
                <a:spcPct val="0"/>
              </a:spcBef>
            </a:pPr>
            <a:r>
              <a:rPr lang="en-US" sz="3199">
                <a:solidFill>
                  <a:srgbClr val="000000"/>
                </a:solidFill>
                <a:latin typeface="TT Hoves"/>
                <a:ea typeface="TT Hoves"/>
                <a:cs typeface="TT Hoves"/>
                <a:sym typeface="TT Hoves"/>
              </a:rPr>
              <a:t>Ofek Ben Avraham</a:t>
            </a:r>
          </a:p>
        </p:txBody>
      </p:sp>
      <p:sp>
        <p:nvSpPr>
          <p:cNvPr id="9" name="TextBox 9"/>
          <p:cNvSpPr txBox="1"/>
          <p:nvPr/>
        </p:nvSpPr>
        <p:spPr>
          <a:xfrm>
            <a:off x="6732815" y="8191336"/>
            <a:ext cx="4537466" cy="537846"/>
          </a:xfrm>
          <a:prstGeom prst="rect">
            <a:avLst/>
          </a:prstGeom>
        </p:spPr>
        <p:txBody>
          <a:bodyPr lIns="0" tIns="0" rIns="0" bIns="0" rtlCol="0" anchor="t">
            <a:spAutoFit/>
          </a:bodyPr>
          <a:lstStyle/>
          <a:p>
            <a:pPr algn="ctr">
              <a:lnSpc>
                <a:spcPts val="4479"/>
              </a:lnSpc>
              <a:spcBef>
                <a:spcPct val="0"/>
              </a:spcBef>
            </a:pPr>
            <a:r>
              <a:rPr lang="en-US" sz="3199">
                <a:solidFill>
                  <a:srgbClr val="000000"/>
                </a:solidFill>
                <a:latin typeface="TT Hoves"/>
                <a:ea typeface="TT Hoves"/>
                <a:cs typeface="TT Hoves"/>
                <a:sym typeface="TT Hoves"/>
              </a:rPr>
              <a:t>Ronen Zilber</a:t>
            </a:r>
          </a:p>
        </p:txBody>
      </p:sp>
      <p:sp>
        <p:nvSpPr>
          <p:cNvPr id="10" name="TextBox 10"/>
          <p:cNvSpPr txBox="1"/>
          <p:nvPr/>
        </p:nvSpPr>
        <p:spPr>
          <a:xfrm>
            <a:off x="1714825" y="3194050"/>
            <a:ext cx="14573446" cy="1038225"/>
          </a:xfrm>
          <a:prstGeom prst="rect">
            <a:avLst/>
          </a:prstGeom>
        </p:spPr>
        <p:txBody>
          <a:bodyPr lIns="0" tIns="0" rIns="0" bIns="0" rtlCol="0" anchor="t">
            <a:spAutoFit/>
          </a:bodyPr>
          <a:lstStyle/>
          <a:p>
            <a:pPr algn="ctr">
              <a:lnSpc>
                <a:spcPts val="8400"/>
              </a:lnSpc>
              <a:spcBef>
                <a:spcPct val="0"/>
              </a:spcBef>
            </a:pPr>
            <a:r>
              <a:rPr lang="en-US" sz="6000" dirty="0">
                <a:solidFill>
                  <a:srgbClr val="000000"/>
                </a:solidFill>
                <a:latin typeface="TT Hoves Bold"/>
                <a:ea typeface="TT Hoves Bold"/>
                <a:cs typeface="TT Hoves Bold"/>
                <a:sym typeface="TT Hoves Bold"/>
              </a:rPr>
              <a:t>A Decentralized File-Sharing Platform</a:t>
            </a:r>
          </a:p>
        </p:txBody>
      </p:sp>
      <p:sp>
        <p:nvSpPr>
          <p:cNvPr id="11" name="TextBox 11"/>
          <p:cNvSpPr txBox="1"/>
          <p:nvPr/>
        </p:nvSpPr>
        <p:spPr>
          <a:xfrm>
            <a:off x="6380375" y="4880340"/>
            <a:ext cx="5242345" cy="679450"/>
          </a:xfrm>
          <a:prstGeom prst="rect">
            <a:avLst/>
          </a:prstGeom>
        </p:spPr>
        <p:txBody>
          <a:bodyPr lIns="0" tIns="0" rIns="0" bIns="0" rtlCol="0" anchor="t">
            <a:spAutoFit/>
          </a:bodyPr>
          <a:lstStyle/>
          <a:p>
            <a:pPr algn="ctr">
              <a:lnSpc>
                <a:spcPts val="5599"/>
              </a:lnSpc>
              <a:spcBef>
                <a:spcPct val="0"/>
              </a:spcBef>
            </a:pPr>
            <a:r>
              <a:rPr lang="en-US" sz="3999">
                <a:solidFill>
                  <a:srgbClr val="000000"/>
                </a:solidFill>
                <a:latin typeface="TT Hoves Bold"/>
                <a:ea typeface="TT Hoves Bold"/>
                <a:cs typeface="TT Hoves Bold"/>
                <a:sym typeface="TT Hoves Bold"/>
              </a:rPr>
              <a:t>Presenting:</a:t>
            </a:r>
          </a:p>
        </p:txBody>
      </p:sp>
      <p:sp>
        <p:nvSpPr>
          <p:cNvPr id="12" name="TextBox 12"/>
          <p:cNvSpPr txBox="1"/>
          <p:nvPr/>
        </p:nvSpPr>
        <p:spPr>
          <a:xfrm>
            <a:off x="6380375" y="7450549"/>
            <a:ext cx="5242345" cy="679450"/>
          </a:xfrm>
          <a:prstGeom prst="rect">
            <a:avLst/>
          </a:prstGeom>
        </p:spPr>
        <p:txBody>
          <a:bodyPr lIns="0" tIns="0" rIns="0" bIns="0" rtlCol="0" anchor="t">
            <a:spAutoFit/>
          </a:bodyPr>
          <a:lstStyle/>
          <a:p>
            <a:pPr algn="ctr">
              <a:lnSpc>
                <a:spcPts val="5599"/>
              </a:lnSpc>
              <a:spcBef>
                <a:spcPct val="0"/>
              </a:spcBef>
            </a:pPr>
            <a:r>
              <a:rPr lang="en-US" sz="3999">
                <a:solidFill>
                  <a:srgbClr val="000000"/>
                </a:solidFill>
                <a:latin typeface="TT Hoves Bold"/>
                <a:ea typeface="TT Hoves Bold"/>
                <a:cs typeface="TT Hoves Bold"/>
                <a:sym typeface="TT Hoves Bold"/>
              </a:rPr>
              <a:t>Supervisor:</a:t>
            </a:r>
          </a:p>
        </p:txBody>
      </p:sp>
      <p:grpSp>
        <p:nvGrpSpPr>
          <p:cNvPr id="13" name="Group 13"/>
          <p:cNvGrpSpPr/>
          <p:nvPr/>
        </p:nvGrpSpPr>
        <p:grpSpPr>
          <a:xfrm>
            <a:off x="17482968" y="8660782"/>
            <a:ext cx="805032" cy="597518"/>
            <a:chOff x="0" y="0"/>
            <a:chExt cx="1095080" cy="812800"/>
          </a:xfrm>
        </p:grpSpPr>
        <p:sp>
          <p:nvSpPr>
            <p:cNvPr id="14" name="Freeform 14"/>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15" name="TextBox 15"/>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en-US" sz="1599">
                <a:solidFill>
                  <a:srgbClr val="FFFFFF"/>
                </a:solidFill>
                <a:latin typeface="Open Sans Bold"/>
                <a:ea typeface="Open Sans Bold"/>
                <a:cs typeface="Open Sans Bold"/>
                <a:sym typeface="Open Sans Bold"/>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269329" y="-386505"/>
            <a:ext cx="18557330" cy="10673505"/>
            <a:chOff x="0" y="-57150"/>
            <a:chExt cx="4958462" cy="291292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1E1E1">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grpSp>
        <p:nvGrpSpPr>
          <p:cNvPr id="13" name="Group 13"/>
          <p:cNvGrpSpPr/>
          <p:nvPr/>
        </p:nvGrpSpPr>
        <p:grpSpPr>
          <a:xfrm>
            <a:off x="17482968" y="8660782"/>
            <a:ext cx="805032" cy="597518"/>
            <a:chOff x="0" y="0"/>
            <a:chExt cx="1095080" cy="812800"/>
          </a:xfrm>
        </p:grpSpPr>
        <p:sp>
          <p:nvSpPr>
            <p:cNvPr id="14" name="Freeform 14"/>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15" name="TextBox 15"/>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en-US" sz="1599" dirty="0">
                <a:solidFill>
                  <a:srgbClr val="FFFFFF"/>
                </a:solidFill>
                <a:latin typeface="Open Sans Bold"/>
                <a:ea typeface="Open Sans Bold"/>
                <a:cs typeface="Open Sans Bold"/>
                <a:sym typeface="Open Sans Bold"/>
              </a:rPr>
              <a:t>02</a:t>
            </a:r>
          </a:p>
        </p:txBody>
      </p:sp>
      <p:sp>
        <p:nvSpPr>
          <p:cNvPr id="17" name="TextBox 6">
            <a:extLst>
              <a:ext uri="{FF2B5EF4-FFF2-40B4-BE49-F238E27FC236}">
                <a16:creationId xmlns:a16="http://schemas.microsoft.com/office/drawing/2014/main" id="{1862DBDC-10DD-F927-0050-BCBFBDD2CB4C}"/>
              </a:ext>
            </a:extLst>
          </p:cNvPr>
          <p:cNvSpPr txBox="1"/>
          <p:nvPr/>
        </p:nvSpPr>
        <p:spPr>
          <a:xfrm>
            <a:off x="3356744" y="663456"/>
            <a:ext cx="11574511" cy="1244700"/>
          </a:xfrm>
          <a:prstGeom prst="rect">
            <a:avLst/>
          </a:prstGeom>
        </p:spPr>
        <p:txBody>
          <a:bodyPr wrap="square" lIns="0" tIns="0" rIns="0" bIns="0" rtlCol="0" anchor="t">
            <a:spAutoFit/>
          </a:bodyPr>
          <a:lstStyle/>
          <a:p>
            <a:pPr algn="ctr">
              <a:lnSpc>
                <a:spcPts val="10285"/>
              </a:lnSpc>
              <a:spcBef>
                <a:spcPct val="0"/>
              </a:spcBef>
            </a:pPr>
            <a:r>
              <a:rPr lang="en-US" sz="8000" dirty="0">
                <a:latin typeface="TT Hoves Bold" panose="020B0604020202020204" charset="0"/>
              </a:rPr>
              <a:t>Introducing Data Pulse</a:t>
            </a:r>
            <a:endParaRPr lang="en-US" sz="8000" dirty="0">
              <a:solidFill>
                <a:srgbClr val="000000"/>
              </a:solidFill>
              <a:latin typeface="TT Hoves Bold" panose="020B0604020202020204" charset="0"/>
              <a:ea typeface="TT Hoves Bold"/>
              <a:cs typeface="TT Hoves Bold"/>
              <a:sym typeface="TT Hoves Bold"/>
            </a:endParaRPr>
          </a:p>
        </p:txBody>
      </p:sp>
      <p:sp>
        <p:nvSpPr>
          <p:cNvPr id="18" name="TextBox 7">
            <a:extLst>
              <a:ext uri="{FF2B5EF4-FFF2-40B4-BE49-F238E27FC236}">
                <a16:creationId xmlns:a16="http://schemas.microsoft.com/office/drawing/2014/main" id="{2B7ED2DE-ED81-4D48-AE4C-D2774D141A91}"/>
              </a:ext>
            </a:extLst>
          </p:cNvPr>
          <p:cNvSpPr txBox="1"/>
          <p:nvPr/>
        </p:nvSpPr>
        <p:spPr>
          <a:xfrm>
            <a:off x="1836605" y="2571612"/>
            <a:ext cx="14614787" cy="3742884"/>
          </a:xfrm>
          <a:prstGeom prst="rect">
            <a:avLst/>
          </a:prstGeom>
        </p:spPr>
        <p:txBody>
          <a:bodyPr wrap="square" lIns="0" tIns="0" rIns="0" bIns="0" rtlCol="0" anchor="t">
            <a:spAutoFit/>
          </a:bodyPr>
          <a:lstStyle/>
          <a:p>
            <a:pPr marL="906767" lvl="1" indent="-453384" algn="l">
              <a:lnSpc>
                <a:spcPts val="5879"/>
              </a:lnSpc>
              <a:buFont typeface="Arial"/>
              <a:buChar char="•"/>
            </a:pPr>
            <a:r>
              <a:rPr lang="en-US" sz="4400" dirty="0"/>
              <a:t>Decentralized file-sharing platform</a:t>
            </a:r>
            <a:r>
              <a:rPr lang="en-US" sz="4199" dirty="0">
                <a:solidFill>
                  <a:srgbClr val="000000"/>
                </a:solidFill>
                <a:latin typeface="TT Hoves"/>
                <a:ea typeface="TT Hoves"/>
                <a:cs typeface="TT Hoves"/>
                <a:sym typeface="TT Hoves"/>
              </a:rPr>
              <a:t>.</a:t>
            </a:r>
          </a:p>
          <a:p>
            <a:pPr marL="906767" lvl="1" indent="-453384" algn="l">
              <a:lnSpc>
                <a:spcPts val="5879"/>
              </a:lnSpc>
              <a:buFont typeface="Arial"/>
              <a:buChar char="•"/>
            </a:pPr>
            <a:r>
              <a:rPr lang="en-US" sz="4400" dirty="0"/>
              <a:t>Leveraging peer-to-peer (P2P) networking.</a:t>
            </a:r>
          </a:p>
          <a:p>
            <a:pPr marL="906767" lvl="1" indent="-453384" algn="l">
              <a:lnSpc>
                <a:spcPts val="5879"/>
              </a:lnSpc>
              <a:buFont typeface="Arial"/>
              <a:buChar char="•"/>
            </a:pPr>
            <a:r>
              <a:rPr lang="en-US" sz="4400" dirty="0"/>
              <a:t>Fast, efficient, and reliable file transfers.</a:t>
            </a:r>
          </a:p>
          <a:p>
            <a:pPr marL="906767" lvl="1" indent="-453384" algn="l">
              <a:lnSpc>
                <a:spcPts val="5879"/>
              </a:lnSpc>
              <a:buFont typeface="Arial"/>
              <a:buChar char="•"/>
            </a:pPr>
            <a:r>
              <a:rPr lang="en-US" sz="4400" dirty="0"/>
              <a:t>Users share load and resources.</a:t>
            </a:r>
          </a:p>
          <a:p>
            <a:pPr marL="906767" lvl="1" indent="-453384" algn="l">
              <a:lnSpc>
                <a:spcPts val="5879"/>
              </a:lnSpc>
              <a:buFont typeface="Arial"/>
              <a:buChar char="•"/>
            </a:pPr>
            <a:r>
              <a:rPr lang="en-US" sz="4400" dirty="0"/>
              <a:t>Intuitive and easy-to-navigate interface</a:t>
            </a:r>
            <a:r>
              <a:rPr lang="en-US" sz="4199" dirty="0">
                <a:solidFill>
                  <a:srgbClr val="000000"/>
                </a:solidFill>
                <a:latin typeface="TT Hoves"/>
                <a:ea typeface="TT Hoves"/>
                <a:cs typeface="TT Hoves"/>
                <a:sym typeface="TT Hoves"/>
              </a:rPr>
              <a:t>.</a:t>
            </a:r>
          </a:p>
        </p:txBody>
      </p:sp>
      <p:sp>
        <p:nvSpPr>
          <p:cNvPr id="8" name="Freeform 6">
            <a:extLst>
              <a:ext uri="{FF2B5EF4-FFF2-40B4-BE49-F238E27FC236}">
                <a16:creationId xmlns:a16="http://schemas.microsoft.com/office/drawing/2014/main" id="{5499365B-C63D-E9C7-027B-46188804A3E5}"/>
              </a:ext>
            </a:extLst>
          </p:cNvPr>
          <p:cNvSpPr/>
          <p:nvPr/>
        </p:nvSpPr>
        <p:spPr>
          <a:xfrm>
            <a:off x="5320183" y="7091278"/>
            <a:ext cx="7647634" cy="2532266"/>
          </a:xfrm>
          <a:custGeom>
            <a:avLst/>
            <a:gdLst/>
            <a:ahLst/>
            <a:cxnLst/>
            <a:rect l="l" t="t" r="r" b="b"/>
            <a:pathLst>
              <a:path w="9408228" h="3116290">
                <a:moveTo>
                  <a:pt x="0" y="0"/>
                </a:moveTo>
                <a:lnTo>
                  <a:pt x="9408228" y="0"/>
                </a:lnTo>
                <a:lnTo>
                  <a:pt x="9408228" y="3116290"/>
                </a:lnTo>
                <a:lnTo>
                  <a:pt x="0" y="3116290"/>
                </a:lnTo>
                <a:lnTo>
                  <a:pt x="0" y="0"/>
                </a:lnTo>
                <a:close/>
              </a:path>
            </a:pathLst>
          </a:custGeom>
          <a:blipFill>
            <a:blip r:embed="rId4"/>
            <a:stretch>
              <a:fillRect/>
            </a:stretch>
          </a:blipFill>
        </p:spPr>
        <p:txBody>
          <a:bodyPr/>
          <a:lstStyle/>
          <a:p>
            <a:endParaRPr lang="en-IL"/>
          </a:p>
        </p:txBody>
      </p:sp>
    </p:spTree>
    <p:extLst>
      <p:ext uri="{BB962C8B-B14F-4D97-AF65-F5344CB8AC3E}">
        <p14:creationId xmlns:p14="http://schemas.microsoft.com/office/powerpoint/2010/main" val="1911202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269329" y="-130583"/>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TextBox 6"/>
          <p:cNvSpPr txBox="1"/>
          <p:nvPr/>
        </p:nvSpPr>
        <p:spPr>
          <a:xfrm>
            <a:off x="5410200" y="887785"/>
            <a:ext cx="4945111" cy="1251662"/>
          </a:xfrm>
          <a:prstGeom prst="rect">
            <a:avLst/>
          </a:prstGeom>
        </p:spPr>
        <p:txBody>
          <a:bodyPr wrap="square" lIns="0" tIns="0" rIns="0" bIns="0" rtlCol="0" anchor="t">
            <a:spAutoFit/>
          </a:bodyPr>
          <a:lstStyle/>
          <a:p>
            <a:pPr algn="ctr">
              <a:lnSpc>
                <a:spcPts val="10285"/>
              </a:lnSpc>
              <a:spcBef>
                <a:spcPct val="0"/>
              </a:spcBef>
            </a:pPr>
            <a:r>
              <a:rPr lang="en-US" sz="7346" dirty="0">
                <a:solidFill>
                  <a:srgbClr val="000000"/>
                </a:solidFill>
                <a:latin typeface="TT Hoves Bold"/>
                <a:ea typeface="TT Hoves Bold"/>
                <a:cs typeface="TT Hoves Bold"/>
                <a:sym typeface="TT Hoves Bold"/>
              </a:rPr>
              <a:t>Objectives</a:t>
            </a:r>
          </a:p>
        </p:txBody>
      </p:sp>
      <p:sp>
        <p:nvSpPr>
          <p:cNvPr id="7" name="TextBox 7"/>
          <p:cNvSpPr txBox="1"/>
          <p:nvPr/>
        </p:nvSpPr>
        <p:spPr>
          <a:xfrm>
            <a:off x="1028700" y="3027232"/>
            <a:ext cx="14614787" cy="3742884"/>
          </a:xfrm>
          <a:prstGeom prst="rect">
            <a:avLst/>
          </a:prstGeom>
        </p:spPr>
        <p:txBody>
          <a:bodyPr lIns="0" tIns="0" rIns="0" bIns="0" rtlCol="0" anchor="t">
            <a:spAutoFit/>
          </a:bodyPr>
          <a:lstStyle/>
          <a:p>
            <a:pPr marL="906767" lvl="1" indent="-453384" algn="l">
              <a:lnSpc>
                <a:spcPts val="5879"/>
              </a:lnSpc>
              <a:buFont typeface="Arial"/>
              <a:buChar char="•"/>
            </a:pPr>
            <a:r>
              <a:rPr lang="en-US" sz="4199" dirty="0">
                <a:solidFill>
                  <a:srgbClr val="000000"/>
                </a:solidFill>
                <a:latin typeface="TT Hoves"/>
                <a:ea typeface="TT Hoves"/>
                <a:cs typeface="TT Hoves"/>
                <a:sym typeface="TT Hoves"/>
              </a:rPr>
              <a:t>Develop a decentralized file-sharing platform.</a:t>
            </a:r>
          </a:p>
          <a:p>
            <a:pPr marL="906767" lvl="1" indent="-453384" algn="l">
              <a:lnSpc>
                <a:spcPts val="5879"/>
              </a:lnSpc>
              <a:buFont typeface="Arial"/>
              <a:buChar char="•"/>
            </a:pPr>
            <a:r>
              <a:rPr lang="en-US" sz="4400" dirty="0"/>
              <a:t>Focus on a user-friendly interface.</a:t>
            </a:r>
          </a:p>
          <a:p>
            <a:pPr marL="906767" lvl="1" indent="-453384" algn="l">
              <a:lnSpc>
                <a:spcPts val="5879"/>
              </a:lnSpc>
              <a:buFont typeface="Arial"/>
              <a:buChar char="•"/>
            </a:pPr>
            <a:r>
              <a:rPr lang="en-US" sz="4400" dirty="0"/>
              <a:t>Ensure secure and reliable file transfers.</a:t>
            </a:r>
          </a:p>
          <a:p>
            <a:pPr marL="906767" lvl="1" indent="-453384">
              <a:lnSpc>
                <a:spcPts val="5879"/>
              </a:lnSpc>
              <a:buFont typeface="Arial"/>
              <a:buChar char="•"/>
            </a:pPr>
            <a:r>
              <a:rPr lang="en-US" sz="4400" dirty="0"/>
              <a:t>Enhance performance for both uploads and downloads</a:t>
            </a:r>
            <a:r>
              <a:rPr lang="en-US" sz="4199" dirty="0">
                <a:solidFill>
                  <a:srgbClr val="000000"/>
                </a:solidFill>
                <a:latin typeface="TT Hoves"/>
                <a:ea typeface="TT Hoves"/>
                <a:cs typeface="TT Hoves"/>
                <a:sym typeface="TT Hoves"/>
              </a:rPr>
              <a:t>.</a:t>
            </a:r>
            <a:endParaRPr lang="en-US" sz="4400" dirty="0"/>
          </a:p>
          <a:p>
            <a:pPr marL="906767" lvl="1" indent="-453384" algn="l">
              <a:lnSpc>
                <a:spcPts val="5879"/>
              </a:lnSpc>
              <a:buFont typeface="Arial"/>
              <a:buChar char="•"/>
            </a:pPr>
            <a:r>
              <a:rPr lang="en-US" sz="4400" dirty="0"/>
              <a:t>Maintain high data availability and system reliability.</a:t>
            </a:r>
          </a:p>
        </p:txBody>
      </p:sp>
      <p:grpSp>
        <p:nvGrpSpPr>
          <p:cNvPr id="8" name="Group 8"/>
          <p:cNvGrpSpPr/>
          <p:nvPr/>
        </p:nvGrpSpPr>
        <p:grpSpPr>
          <a:xfrm>
            <a:off x="17482968" y="8660782"/>
            <a:ext cx="805032" cy="597518"/>
            <a:chOff x="0" y="0"/>
            <a:chExt cx="1095080" cy="812800"/>
          </a:xfrm>
        </p:grpSpPr>
        <p:sp>
          <p:nvSpPr>
            <p:cNvPr id="9" name="Freeform 9"/>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10" name="TextBox 10"/>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en-US" sz="1599" dirty="0">
                <a:solidFill>
                  <a:srgbClr val="FFFFFF"/>
                </a:solidFill>
                <a:latin typeface="Open Sans Bold"/>
                <a:ea typeface="Open Sans Bold"/>
                <a:cs typeface="Open Sans Bold"/>
                <a:sym typeface="Open Sans Bold"/>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154665" y="-278009"/>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grpSp>
        <p:nvGrpSpPr>
          <p:cNvPr id="6" name="Group 6"/>
          <p:cNvGrpSpPr/>
          <p:nvPr/>
        </p:nvGrpSpPr>
        <p:grpSpPr>
          <a:xfrm>
            <a:off x="17482968" y="8660782"/>
            <a:ext cx="805032" cy="597518"/>
            <a:chOff x="0" y="0"/>
            <a:chExt cx="1095080" cy="812800"/>
          </a:xfrm>
        </p:grpSpPr>
        <p:sp>
          <p:nvSpPr>
            <p:cNvPr id="7" name="Freeform 7"/>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8" name="TextBox 8"/>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2649200" y="2634881"/>
            <a:ext cx="3147164" cy="5017237"/>
          </a:xfrm>
          <a:custGeom>
            <a:avLst/>
            <a:gdLst/>
            <a:ahLst/>
            <a:cxnLst/>
            <a:rect l="l" t="t" r="r" b="b"/>
            <a:pathLst>
              <a:path w="3147164" h="5017237">
                <a:moveTo>
                  <a:pt x="0" y="0"/>
                </a:moveTo>
                <a:lnTo>
                  <a:pt x="3147164" y="0"/>
                </a:lnTo>
                <a:lnTo>
                  <a:pt x="3147164" y="5017238"/>
                </a:lnTo>
                <a:lnTo>
                  <a:pt x="0" y="5017238"/>
                </a:lnTo>
                <a:lnTo>
                  <a:pt x="0" y="0"/>
                </a:lnTo>
                <a:close/>
              </a:path>
            </a:pathLst>
          </a:custGeom>
          <a:blipFill>
            <a:blip r:embed="rId4"/>
            <a:stretch>
              <a:fillRect l="-47041" r="-43327" b="-19413"/>
            </a:stretch>
          </a:blipFill>
        </p:spPr>
        <p:txBody>
          <a:bodyPr/>
          <a:lstStyle/>
          <a:p>
            <a:endParaRPr lang="en-IL"/>
          </a:p>
        </p:txBody>
      </p:sp>
      <p:sp>
        <p:nvSpPr>
          <p:cNvPr id="10" name="TextBox 10"/>
          <p:cNvSpPr txBox="1"/>
          <p:nvPr/>
        </p:nvSpPr>
        <p:spPr>
          <a:xfrm>
            <a:off x="1028700" y="3573462"/>
            <a:ext cx="10849000" cy="4981044"/>
          </a:xfrm>
          <a:prstGeom prst="rect">
            <a:avLst/>
          </a:prstGeom>
        </p:spPr>
        <p:txBody>
          <a:bodyPr lIns="0" tIns="0" rIns="0" bIns="0" rtlCol="0" anchor="t">
            <a:spAutoFit/>
          </a:bodyPr>
          <a:lstStyle/>
          <a:p>
            <a:pPr marL="755641" lvl="1" indent="-377820" algn="l">
              <a:lnSpc>
                <a:spcPts val="4899"/>
              </a:lnSpc>
              <a:buFont typeface="Arial"/>
              <a:buChar char="•"/>
            </a:pPr>
            <a:r>
              <a:rPr lang="en-US" sz="3499" dirty="0">
                <a:solidFill>
                  <a:srgbClr val="000000"/>
                </a:solidFill>
                <a:latin typeface="TT Hoves"/>
                <a:ea typeface="TT Hoves"/>
                <a:cs typeface="TT Hoves"/>
                <a:sym typeface="TT Hoves"/>
              </a:rPr>
              <a:t>The growing of digital file sizes.</a:t>
            </a:r>
          </a:p>
          <a:p>
            <a:pPr algn="l">
              <a:lnSpc>
                <a:spcPts val="4899"/>
              </a:lnSpc>
            </a:pPr>
            <a:endParaRPr lang="en-US" sz="3499" dirty="0">
              <a:solidFill>
                <a:srgbClr val="000000"/>
              </a:solidFill>
              <a:latin typeface="TT Hoves"/>
              <a:ea typeface="TT Hoves"/>
              <a:cs typeface="TT Hoves"/>
              <a:sym typeface="TT Hoves"/>
            </a:endParaRPr>
          </a:p>
          <a:p>
            <a:pPr marL="755641" lvl="1" indent="-377820" algn="l">
              <a:lnSpc>
                <a:spcPts val="4899"/>
              </a:lnSpc>
              <a:buFont typeface="Arial"/>
              <a:buChar char="•"/>
            </a:pPr>
            <a:r>
              <a:rPr lang="en-US" sz="3499" dirty="0">
                <a:solidFill>
                  <a:srgbClr val="000000"/>
                </a:solidFill>
                <a:latin typeface="TT Hoves"/>
                <a:ea typeface="TT Hoves"/>
                <a:cs typeface="TT Hoves"/>
                <a:sym typeface="TT Hoves"/>
              </a:rPr>
              <a:t>Bandwidth limitations in single-server systems.</a:t>
            </a:r>
          </a:p>
          <a:p>
            <a:pPr algn="l">
              <a:lnSpc>
                <a:spcPts val="4899"/>
              </a:lnSpc>
            </a:pPr>
            <a:endParaRPr lang="en-US" sz="3499" dirty="0">
              <a:solidFill>
                <a:srgbClr val="000000"/>
              </a:solidFill>
              <a:latin typeface="TT Hoves"/>
              <a:ea typeface="TT Hoves"/>
              <a:cs typeface="TT Hoves"/>
              <a:sym typeface="TT Hoves"/>
            </a:endParaRPr>
          </a:p>
          <a:p>
            <a:pPr marL="755641" lvl="1" indent="-377820" algn="l">
              <a:lnSpc>
                <a:spcPts val="4899"/>
              </a:lnSpc>
              <a:buFont typeface="Arial"/>
              <a:buChar char="•"/>
            </a:pPr>
            <a:r>
              <a:rPr lang="en-US" sz="3499" dirty="0">
                <a:solidFill>
                  <a:srgbClr val="000000"/>
                </a:solidFill>
                <a:latin typeface="TT Hoves"/>
                <a:ea typeface="TT Hoves"/>
                <a:cs typeface="TT Hoves"/>
                <a:sym typeface="TT Hoves"/>
              </a:rPr>
              <a:t>Inefficiencies in traditional file distribution.</a:t>
            </a:r>
          </a:p>
          <a:p>
            <a:pPr marL="755641" lvl="1" indent="-377820" algn="l">
              <a:lnSpc>
                <a:spcPts val="4899"/>
              </a:lnSpc>
              <a:buFont typeface="Arial"/>
              <a:buChar char="•"/>
            </a:pPr>
            <a:endParaRPr lang="en-US" sz="3499" dirty="0">
              <a:solidFill>
                <a:srgbClr val="000000"/>
              </a:solidFill>
              <a:latin typeface="TT Hoves"/>
              <a:ea typeface="TT Hoves"/>
              <a:cs typeface="TT Hoves"/>
              <a:sym typeface="TT Hoves"/>
            </a:endParaRPr>
          </a:p>
          <a:p>
            <a:pPr marL="755641" lvl="1" indent="-377820" algn="l">
              <a:lnSpc>
                <a:spcPts val="4899"/>
              </a:lnSpc>
              <a:buFont typeface="Arial"/>
              <a:buChar char="•"/>
            </a:pPr>
            <a:r>
              <a:rPr lang="en-US" sz="3600" dirty="0"/>
              <a:t>BitTorrent and µTorrent.</a:t>
            </a:r>
            <a:endParaRPr lang="en-US" sz="3499" dirty="0">
              <a:solidFill>
                <a:srgbClr val="000000"/>
              </a:solidFill>
              <a:latin typeface="TT Hoves"/>
              <a:ea typeface="TT Hoves"/>
              <a:cs typeface="TT Hoves"/>
              <a:sym typeface="TT Hoves"/>
            </a:endParaRPr>
          </a:p>
          <a:p>
            <a:pPr algn="l">
              <a:lnSpc>
                <a:spcPts val="4899"/>
              </a:lnSpc>
            </a:pPr>
            <a:endParaRPr lang="en-US" sz="3499" dirty="0">
              <a:solidFill>
                <a:srgbClr val="000000"/>
              </a:solidFill>
              <a:latin typeface="TT Hoves"/>
              <a:ea typeface="TT Hoves"/>
              <a:cs typeface="TT Hoves"/>
              <a:sym typeface="TT Hoves"/>
            </a:endParaRPr>
          </a:p>
        </p:txBody>
      </p:sp>
      <p:sp>
        <p:nvSpPr>
          <p:cNvPr id="11" name="TextBox 11"/>
          <p:cNvSpPr txBox="1"/>
          <p:nvPr/>
        </p:nvSpPr>
        <p:spPr>
          <a:xfrm>
            <a:off x="3581400" y="895350"/>
            <a:ext cx="9533987" cy="1223925"/>
          </a:xfrm>
          <a:prstGeom prst="rect">
            <a:avLst/>
          </a:prstGeom>
        </p:spPr>
        <p:txBody>
          <a:bodyPr wrap="square" lIns="0" tIns="0" rIns="0" bIns="0" rtlCol="0" anchor="t">
            <a:spAutoFit/>
          </a:bodyPr>
          <a:lstStyle/>
          <a:p>
            <a:pPr algn="ctr">
              <a:lnSpc>
                <a:spcPts val="10285"/>
              </a:lnSpc>
              <a:spcBef>
                <a:spcPct val="0"/>
              </a:spcBef>
            </a:pPr>
            <a:r>
              <a:rPr lang="en-US" sz="7346" dirty="0">
                <a:solidFill>
                  <a:srgbClr val="000000"/>
                </a:solidFill>
                <a:latin typeface="TT Hoves Bold"/>
                <a:ea typeface="TT Hoves Bold"/>
                <a:cs typeface="TT Hoves Bold"/>
                <a:sym typeface="TT Hoves Bold"/>
              </a:rPr>
              <a:t>Existing Conditions</a:t>
            </a:r>
          </a:p>
        </p:txBody>
      </p:sp>
      <p:sp>
        <p:nvSpPr>
          <p:cNvPr id="12" name="TextBox 12"/>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en-US" sz="1599" dirty="0">
                <a:solidFill>
                  <a:srgbClr val="FFFFFF"/>
                </a:solidFill>
                <a:latin typeface="Open Sans Bold"/>
                <a:ea typeface="Open Sans Bold"/>
                <a:cs typeface="Open Sans Bold"/>
                <a:sym typeface="Open Sans Bold"/>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154665" y="-278009"/>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TextBox 6"/>
          <p:cNvSpPr txBox="1"/>
          <p:nvPr/>
        </p:nvSpPr>
        <p:spPr>
          <a:xfrm>
            <a:off x="4681192" y="1389870"/>
            <a:ext cx="8925616" cy="1251662"/>
          </a:xfrm>
          <a:prstGeom prst="rect">
            <a:avLst/>
          </a:prstGeom>
        </p:spPr>
        <p:txBody>
          <a:bodyPr lIns="0" tIns="0" rIns="0" bIns="0" rtlCol="0" anchor="t">
            <a:spAutoFit/>
          </a:bodyPr>
          <a:lstStyle/>
          <a:p>
            <a:pPr algn="ctr">
              <a:lnSpc>
                <a:spcPts val="10285"/>
              </a:lnSpc>
              <a:spcBef>
                <a:spcPct val="0"/>
              </a:spcBef>
            </a:pPr>
            <a:r>
              <a:rPr lang="en-US" sz="7346" dirty="0">
                <a:solidFill>
                  <a:srgbClr val="000000"/>
                </a:solidFill>
                <a:latin typeface="TT Hoves Bold"/>
                <a:ea typeface="TT Hoves Bold"/>
                <a:cs typeface="TT Hoves Bold"/>
                <a:sym typeface="TT Hoves Bold"/>
              </a:rPr>
              <a:t>Need for </a:t>
            </a:r>
            <a:r>
              <a:rPr lang="en-US" sz="7346" dirty="0" err="1">
                <a:solidFill>
                  <a:srgbClr val="000000"/>
                </a:solidFill>
                <a:latin typeface="TT Hoves Bold"/>
                <a:ea typeface="TT Hoves Bold"/>
                <a:cs typeface="TT Hoves Bold"/>
                <a:sym typeface="TT Hoves Bold"/>
              </a:rPr>
              <a:t>DataPulse</a:t>
            </a:r>
            <a:endParaRPr lang="en-US" sz="7346" dirty="0">
              <a:solidFill>
                <a:srgbClr val="000000"/>
              </a:solidFill>
              <a:latin typeface="TT Hoves Bold"/>
              <a:ea typeface="TT Hoves Bold"/>
              <a:cs typeface="TT Hoves Bold"/>
              <a:sym typeface="TT Hoves Bold"/>
            </a:endParaRPr>
          </a:p>
        </p:txBody>
      </p:sp>
      <p:sp>
        <p:nvSpPr>
          <p:cNvPr id="7" name="TextBox 7"/>
          <p:cNvSpPr txBox="1"/>
          <p:nvPr/>
        </p:nvSpPr>
        <p:spPr>
          <a:xfrm>
            <a:off x="1066800" y="3467913"/>
            <a:ext cx="14283628" cy="5609421"/>
          </a:xfrm>
          <a:prstGeom prst="rect">
            <a:avLst/>
          </a:prstGeom>
        </p:spPr>
        <p:txBody>
          <a:bodyPr lIns="0" tIns="0" rIns="0" bIns="0" rtlCol="0" anchor="t">
            <a:spAutoFit/>
          </a:bodyPr>
          <a:lstStyle/>
          <a:p>
            <a:pPr marL="755641" lvl="1" indent="-377820" algn="l">
              <a:lnSpc>
                <a:spcPts val="4899"/>
              </a:lnSpc>
              <a:buFont typeface="Arial"/>
              <a:buChar char="•"/>
            </a:pPr>
            <a:r>
              <a:rPr lang="en-US" sz="3499" dirty="0">
                <a:solidFill>
                  <a:srgbClr val="000000"/>
                </a:solidFill>
                <a:latin typeface="TT Hoves"/>
                <a:ea typeface="TT Hoves"/>
                <a:cs typeface="TT Hoves"/>
                <a:sym typeface="TT Hoves"/>
              </a:rPr>
              <a:t>A decentralized approach to file sharing.</a:t>
            </a:r>
          </a:p>
          <a:p>
            <a:pPr algn="l">
              <a:lnSpc>
                <a:spcPts val="4899"/>
              </a:lnSpc>
            </a:pPr>
            <a:endParaRPr lang="en-US" sz="3499" dirty="0">
              <a:solidFill>
                <a:srgbClr val="000000"/>
              </a:solidFill>
              <a:latin typeface="TT Hoves"/>
              <a:ea typeface="TT Hoves"/>
              <a:cs typeface="TT Hoves"/>
              <a:sym typeface="TT Hoves"/>
            </a:endParaRPr>
          </a:p>
          <a:p>
            <a:pPr marL="755641" lvl="1" indent="-377820" algn="l">
              <a:lnSpc>
                <a:spcPts val="4899"/>
              </a:lnSpc>
              <a:buFont typeface="Arial"/>
              <a:buChar char="•"/>
            </a:pPr>
            <a:r>
              <a:rPr lang="en-US" sz="3499" dirty="0">
                <a:solidFill>
                  <a:srgbClr val="000000"/>
                </a:solidFill>
                <a:latin typeface="TT Hoves"/>
                <a:ea typeface="TT Hoves"/>
                <a:cs typeface="TT Hoves"/>
                <a:sym typeface="TT Hoves"/>
              </a:rPr>
              <a:t>Enhanced performance through optimized bandwidth utilization.</a:t>
            </a:r>
          </a:p>
          <a:p>
            <a:pPr marL="755641" lvl="1" indent="-377820" algn="l">
              <a:lnSpc>
                <a:spcPts val="4899"/>
              </a:lnSpc>
              <a:buFont typeface="Arial"/>
              <a:buChar char="•"/>
            </a:pPr>
            <a:endParaRPr lang="en-US" sz="3499" dirty="0">
              <a:solidFill>
                <a:srgbClr val="000000"/>
              </a:solidFill>
              <a:latin typeface="TT Hoves"/>
              <a:ea typeface="TT Hoves"/>
              <a:cs typeface="TT Hoves"/>
              <a:sym typeface="TT Hoves"/>
            </a:endParaRPr>
          </a:p>
          <a:p>
            <a:pPr marL="755641" lvl="1" indent="-377820" algn="l">
              <a:lnSpc>
                <a:spcPts val="4899"/>
              </a:lnSpc>
              <a:buFont typeface="Arial"/>
              <a:buChar char="•"/>
            </a:pPr>
            <a:r>
              <a:rPr lang="en-US" sz="3600" dirty="0"/>
              <a:t>Tracker-based system for efficient peer discovery.</a:t>
            </a:r>
            <a:endParaRPr lang="en-US" sz="3499" dirty="0">
              <a:solidFill>
                <a:srgbClr val="000000"/>
              </a:solidFill>
              <a:latin typeface="TT Hoves"/>
              <a:ea typeface="TT Hoves"/>
              <a:cs typeface="TT Hoves"/>
              <a:sym typeface="TT Hoves"/>
            </a:endParaRPr>
          </a:p>
          <a:p>
            <a:pPr algn="l">
              <a:lnSpc>
                <a:spcPts val="4899"/>
              </a:lnSpc>
            </a:pPr>
            <a:endParaRPr lang="en-US" sz="3499" dirty="0">
              <a:solidFill>
                <a:srgbClr val="000000"/>
              </a:solidFill>
              <a:latin typeface="TT Hoves"/>
              <a:ea typeface="TT Hoves"/>
              <a:cs typeface="TT Hoves"/>
              <a:sym typeface="TT Hoves"/>
            </a:endParaRPr>
          </a:p>
          <a:p>
            <a:pPr marL="755641" lvl="1" indent="-377820" algn="l">
              <a:lnSpc>
                <a:spcPts val="4899"/>
              </a:lnSpc>
              <a:buFont typeface="Arial"/>
              <a:buChar char="•"/>
            </a:pPr>
            <a:r>
              <a:rPr lang="en-US" sz="3499" dirty="0">
                <a:solidFill>
                  <a:srgbClr val="000000"/>
                </a:solidFill>
                <a:latin typeface="TT Hoves"/>
                <a:ea typeface="TT Hoves"/>
                <a:cs typeface="TT Hoves"/>
                <a:sym typeface="TT Hoves"/>
              </a:rPr>
              <a:t>Scalable and secure file-sharing solution</a:t>
            </a:r>
          </a:p>
          <a:p>
            <a:pPr algn="l">
              <a:lnSpc>
                <a:spcPts val="4899"/>
              </a:lnSpc>
            </a:pPr>
            <a:endParaRPr lang="en-US" sz="3499" dirty="0">
              <a:solidFill>
                <a:srgbClr val="000000"/>
              </a:solidFill>
              <a:latin typeface="TT Hoves"/>
              <a:ea typeface="TT Hoves"/>
              <a:cs typeface="TT Hoves"/>
              <a:sym typeface="TT Hoves"/>
            </a:endParaRPr>
          </a:p>
          <a:p>
            <a:pPr marL="755641" lvl="1" indent="-377820" algn="l">
              <a:lnSpc>
                <a:spcPts val="4899"/>
              </a:lnSpc>
              <a:buFont typeface="Arial"/>
              <a:buChar char="•"/>
            </a:pPr>
            <a:r>
              <a:rPr lang="en-US" sz="3499" dirty="0">
                <a:solidFill>
                  <a:srgbClr val="000000"/>
                </a:solidFill>
                <a:latin typeface="TT Hoves"/>
                <a:ea typeface="TT Hoves"/>
                <a:cs typeface="TT Hoves"/>
                <a:sym typeface="TT Hoves"/>
              </a:rPr>
              <a:t>User friendly UI interface</a:t>
            </a:r>
          </a:p>
        </p:txBody>
      </p:sp>
      <p:grpSp>
        <p:nvGrpSpPr>
          <p:cNvPr id="8" name="Group 8"/>
          <p:cNvGrpSpPr/>
          <p:nvPr/>
        </p:nvGrpSpPr>
        <p:grpSpPr>
          <a:xfrm>
            <a:off x="17482968" y="8660782"/>
            <a:ext cx="805032" cy="597518"/>
            <a:chOff x="0" y="0"/>
            <a:chExt cx="1095080" cy="812800"/>
          </a:xfrm>
        </p:grpSpPr>
        <p:sp>
          <p:nvSpPr>
            <p:cNvPr id="9" name="Freeform 9"/>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10" name="TextBox 10"/>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en-US" sz="1599" dirty="0">
                <a:solidFill>
                  <a:srgbClr val="FFFFFF"/>
                </a:solidFill>
                <a:latin typeface="Open Sans Bold"/>
                <a:ea typeface="Open Sans Bold"/>
                <a:cs typeface="Open Sans Bold"/>
                <a:sym typeface="Open Sans Bold"/>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515332" y="-278010"/>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TextBox 6"/>
          <p:cNvSpPr txBox="1"/>
          <p:nvPr/>
        </p:nvSpPr>
        <p:spPr>
          <a:xfrm>
            <a:off x="4132440" y="895350"/>
            <a:ext cx="10023121" cy="1251662"/>
          </a:xfrm>
          <a:prstGeom prst="rect">
            <a:avLst/>
          </a:prstGeom>
        </p:spPr>
        <p:txBody>
          <a:bodyPr lIns="0" tIns="0" rIns="0" bIns="0" rtlCol="0" anchor="t">
            <a:spAutoFit/>
          </a:bodyPr>
          <a:lstStyle/>
          <a:p>
            <a:pPr algn="ctr">
              <a:lnSpc>
                <a:spcPts val="10285"/>
              </a:lnSpc>
              <a:spcBef>
                <a:spcPct val="0"/>
              </a:spcBef>
            </a:pPr>
            <a:r>
              <a:rPr lang="en-US" sz="7346" dirty="0">
                <a:solidFill>
                  <a:srgbClr val="000000"/>
                </a:solidFill>
                <a:latin typeface="TT Hoves Bold"/>
                <a:ea typeface="TT Hoves Bold"/>
                <a:cs typeface="TT Hoves Bold"/>
                <a:sym typeface="TT Hoves Bold"/>
              </a:rPr>
              <a:t>Research Approaches</a:t>
            </a:r>
          </a:p>
        </p:txBody>
      </p:sp>
      <p:sp>
        <p:nvSpPr>
          <p:cNvPr id="7" name="TextBox 7"/>
          <p:cNvSpPr txBox="1"/>
          <p:nvPr/>
        </p:nvSpPr>
        <p:spPr>
          <a:xfrm>
            <a:off x="1028700" y="3367697"/>
            <a:ext cx="6725416" cy="3095912"/>
          </a:xfrm>
          <a:prstGeom prst="rect">
            <a:avLst/>
          </a:prstGeom>
        </p:spPr>
        <p:txBody>
          <a:bodyPr lIns="0" tIns="0" rIns="0" bIns="0" rtlCol="0" anchor="t">
            <a:spAutoFit/>
          </a:bodyPr>
          <a:lstStyle/>
          <a:p>
            <a:pPr marL="755641" lvl="1" indent="-377820" algn="l">
              <a:lnSpc>
                <a:spcPts val="4899"/>
              </a:lnSpc>
              <a:buFont typeface="Arial"/>
              <a:buChar char="•"/>
            </a:pPr>
            <a:r>
              <a:rPr lang="en-US" sz="3499" dirty="0">
                <a:solidFill>
                  <a:srgbClr val="000000"/>
                </a:solidFill>
                <a:latin typeface="TT Hoves"/>
                <a:ea typeface="TT Hoves"/>
                <a:cs typeface="TT Hoves"/>
                <a:sym typeface="TT Hoves"/>
              </a:rPr>
              <a:t>Literature Review.</a:t>
            </a:r>
          </a:p>
          <a:p>
            <a:pPr algn="l">
              <a:lnSpc>
                <a:spcPts val="4899"/>
              </a:lnSpc>
            </a:pPr>
            <a:endParaRPr lang="en-US" sz="3499" dirty="0">
              <a:solidFill>
                <a:srgbClr val="000000"/>
              </a:solidFill>
              <a:latin typeface="TT Hoves"/>
              <a:ea typeface="TT Hoves"/>
              <a:cs typeface="TT Hoves"/>
              <a:sym typeface="TT Hoves"/>
            </a:endParaRPr>
          </a:p>
          <a:p>
            <a:pPr marL="755641" lvl="1" indent="-377820" algn="l">
              <a:lnSpc>
                <a:spcPts val="4899"/>
              </a:lnSpc>
              <a:buFont typeface="Arial"/>
              <a:buChar char="•"/>
            </a:pPr>
            <a:r>
              <a:rPr lang="en-US" sz="3499" dirty="0">
                <a:solidFill>
                  <a:srgbClr val="000000"/>
                </a:solidFill>
                <a:latin typeface="TT Hoves"/>
                <a:ea typeface="TT Hoves"/>
                <a:cs typeface="TT Hoves"/>
                <a:sym typeface="TT Hoves"/>
              </a:rPr>
              <a:t>Technological Feasibility.</a:t>
            </a:r>
          </a:p>
          <a:p>
            <a:pPr algn="l">
              <a:lnSpc>
                <a:spcPts val="4899"/>
              </a:lnSpc>
            </a:pPr>
            <a:endParaRPr lang="en-US" sz="3499" dirty="0">
              <a:solidFill>
                <a:srgbClr val="000000"/>
              </a:solidFill>
              <a:latin typeface="TT Hoves"/>
              <a:ea typeface="TT Hoves"/>
              <a:cs typeface="TT Hoves"/>
              <a:sym typeface="TT Hoves"/>
            </a:endParaRPr>
          </a:p>
          <a:p>
            <a:pPr marL="755641" lvl="1" indent="-377820" algn="l">
              <a:lnSpc>
                <a:spcPts val="4899"/>
              </a:lnSpc>
              <a:buFont typeface="Arial"/>
              <a:buChar char="•"/>
            </a:pPr>
            <a:r>
              <a:rPr lang="en-US" sz="3499" dirty="0">
                <a:solidFill>
                  <a:srgbClr val="000000"/>
                </a:solidFill>
                <a:latin typeface="TT Hoves"/>
                <a:ea typeface="TT Hoves"/>
                <a:cs typeface="TT Hoves"/>
                <a:sym typeface="TT Hoves"/>
              </a:rPr>
              <a:t>User Feedback.</a:t>
            </a:r>
          </a:p>
        </p:txBody>
      </p:sp>
      <p:grpSp>
        <p:nvGrpSpPr>
          <p:cNvPr id="8" name="Group 8"/>
          <p:cNvGrpSpPr/>
          <p:nvPr/>
        </p:nvGrpSpPr>
        <p:grpSpPr>
          <a:xfrm>
            <a:off x="17482968" y="8660782"/>
            <a:ext cx="805032" cy="597518"/>
            <a:chOff x="0" y="0"/>
            <a:chExt cx="1095080" cy="812800"/>
          </a:xfrm>
        </p:grpSpPr>
        <p:sp>
          <p:nvSpPr>
            <p:cNvPr id="9" name="Freeform 9"/>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10" name="TextBox 10"/>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en-US" sz="1599" dirty="0">
                <a:solidFill>
                  <a:srgbClr val="FFFFFF"/>
                </a:solidFill>
                <a:latin typeface="Open Sans Bold"/>
                <a:ea typeface="Open Sans Bold"/>
                <a:cs typeface="Open Sans Bold"/>
                <a:sym typeface="Open Sans Bold"/>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154665" y="-278009"/>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TextBox 6"/>
          <p:cNvSpPr txBox="1"/>
          <p:nvPr/>
        </p:nvSpPr>
        <p:spPr>
          <a:xfrm>
            <a:off x="4378150" y="895350"/>
            <a:ext cx="9531701" cy="1251662"/>
          </a:xfrm>
          <a:prstGeom prst="rect">
            <a:avLst/>
          </a:prstGeom>
        </p:spPr>
        <p:txBody>
          <a:bodyPr lIns="0" tIns="0" rIns="0" bIns="0" rtlCol="0" anchor="t">
            <a:spAutoFit/>
          </a:bodyPr>
          <a:lstStyle/>
          <a:p>
            <a:pPr algn="ctr">
              <a:lnSpc>
                <a:spcPts val="10285"/>
              </a:lnSpc>
              <a:spcBef>
                <a:spcPct val="0"/>
              </a:spcBef>
            </a:pPr>
            <a:r>
              <a:rPr lang="en-US" sz="7346" dirty="0">
                <a:solidFill>
                  <a:srgbClr val="000000"/>
                </a:solidFill>
                <a:latin typeface="TT Hoves Bold"/>
                <a:ea typeface="TT Hoves Bold"/>
                <a:cs typeface="TT Hoves Bold"/>
                <a:sym typeface="TT Hoves Bold"/>
              </a:rPr>
              <a:t>Development Phases</a:t>
            </a:r>
          </a:p>
        </p:txBody>
      </p:sp>
      <p:sp>
        <p:nvSpPr>
          <p:cNvPr id="7" name="TextBox 7"/>
          <p:cNvSpPr txBox="1"/>
          <p:nvPr/>
        </p:nvSpPr>
        <p:spPr>
          <a:xfrm>
            <a:off x="1028700" y="2954337"/>
            <a:ext cx="7886700" cy="4363439"/>
          </a:xfrm>
          <a:prstGeom prst="rect">
            <a:avLst/>
          </a:prstGeom>
        </p:spPr>
        <p:txBody>
          <a:bodyPr wrap="square" lIns="0" tIns="0" rIns="0" bIns="0" rtlCol="0" anchor="t">
            <a:spAutoFit/>
          </a:bodyPr>
          <a:lstStyle/>
          <a:p>
            <a:pPr marL="755641" lvl="1" indent="-377820" algn="l">
              <a:lnSpc>
                <a:spcPts val="4899"/>
              </a:lnSpc>
              <a:buFont typeface="Arial"/>
              <a:buChar char="•"/>
            </a:pPr>
            <a:r>
              <a:rPr lang="en-US" sz="3499" dirty="0">
                <a:solidFill>
                  <a:srgbClr val="000000"/>
                </a:solidFill>
                <a:latin typeface="TT Hoves"/>
                <a:ea typeface="TT Hoves"/>
                <a:cs typeface="TT Hoves"/>
                <a:sym typeface="TT Hoves"/>
              </a:rPr>
              <a:t>Initial Research.</a:t>
            </a:r>
          </a:p>
          <a:p>
            <a:pPr algn="l">
              <a:lnSpc>
                <a:spcPts val="4899"/>
              </a:lnSpc>
            </a:pPr>
            <a:endParaRPr lang="en-US" sz="3499" dirty="0">
              <a:solidFill>
                <a:srgbClr val="000000"/>
              </a:solidFill>
              <a:latin typeface="TT Hoves"/>
              <a:ea typeface="TT Hoves"/>
              <a:cs typeface="TT Hoves"/>
              <a:sym typeface="TT Hoves"/>
            </a:endParaRPr>
          </a:p>
          <a:p>
            <a:pPr marL="755641" lvl="1" indent="-377820" algn="l">
              <a:lnSpc>
                <a:spcPts val="4899"/>
              </a:lnSpc>
              <a:buFont typeface="Arial"/>
              <a:buChar char="•"/>
            </a:pPr>
            <a:r>
              <a:rPr lang="en-US" sz="3600" dirty="0"/>
              <a:t>Design and Test Planning</a:t>
            </a:r>
            <a:r>
              <a:rPr lang="en-US" sz="3499" dirty="0">
                <a:solidFill>
                  <a:srgbClr val="000000"/>
                </a:solidFill>
                <a:latin typeface="TT Hoves"/>
                <a:ea typeface="TT Hoves"/>
                <a:cs typeface="TT Hoves"/>
                <a:sym typeface="TT Hoves"/>
              </a:rPr>
              <a:t>.</a:t>
            </a:r>
          </a:p>
          <a:p>
            <a:pPr algn="l">
              <a:lnSpc>
                <a:spcPts val="4899"/>
              </a:lnSpc>
            </a:pPr>
            <a:endParaRPr lang="en-US" sz="3499" dirty="0">
              <a:solidFill>
                <a:srgbClr val="000000"/>
              </a:solidFill>
              <a:latin typeface="TT Hoves"/>
              <a:ea typeface="TT Hoves"/>
              <a:cs typeface="TT Hoves"/>
              <a:sym typeface="TT Hoves"/>
            </a:endParaRPr>
          </a:p>
          <a:p>
            <a:pPr marL="755641" lvl="1" indent="-377820" algn="l">
              <a:lnSpc>
                <a:spcPts val="4899"/>
              </a:lnSpc>
              <a:buFont typeface="Arial"/>
              <a:buChar char="•"/>
            </a:pPr>
            <a:r>
              <a:rPr lang="en-US" sz="3600" dirty="0"/>
              <a:t>Test-Driven Implementation.</a:t>
            </a:r>
          </a:p>
          <a:p>
            <a:pPr marL="377821" lvl="1" algn="l">
              <a:lnSpc>
                <a:spcPts val="4899"/>
              </a:lnSpc>
            </a:pPr>
            <a:endParaRPr lang="en-US" sz="3499" dirty="0">
              <a:solidFill>
                <a:srgbClr val="000000"/>
              </a:solidFill>
              <a:latin typeface="TT Hoves"/>
              <a:ea typeface="TT Hoves"/>
              <a:cs typeface="TT Hoves"/>
              <a:sym typeface="TT Hoves"/>
            </a:endParaRPr>
          </a:p>
          <a:p>
            <a:pPr marL="755641" lvl="1" indent="-377820" algn="l">
              <a:lnSpc>
                <a:spcPts val="4899"/>
              </a:lnSpc>
              <a:buFont typeface="Arial"/>
              <a:buChar char="•"/>
            </a:pPr>
            <a:r>
              <a:rPr lang="en-US" sz="3600" dirty="0"/>
              <a:t>Continuous Testing and Refinement</a:t>
            </a:r>
            <a:r>
              <a:rPr lang="en-US" sz="3499" dirty="0">
                <a:solidFill>
                  <a:srgbClr val="000000"/>
                </a:solidFill>
                <a:latin typeface="TT Hoves"/>
                <a:ea typeface="TT Hoves"/>
                <a:cs typeface="TT Hoves"/>
                <a:sym typeface="TT Hoves"/>
              </a:rPr>
              <a:t>.</a:t>
            </a:r>
          </a:p>
        </p:txBody>
      </p:sp>
      <p:grpSp>
        <p:nvGrpSpPr>
          <p:cNvPr id="8" name="Group 8"/>
          <p:cNvGrpSpPr/>
          <p:nvPr/>
        </p:nvGrpSpPr>
        <p:grpSpPr>
          <a:xfrm>
            <a:off x="17482968" y="8660782"/>
            <a:ext cx="805032" cy="597518"/>
            <a:chOff x="0" y="0"/>
            <a:chExt cx="1095080" cy="812800"/>
          </a:xfrm>
        </p:grpSpPr>
        <p:sp>
          <p:nvSpPr>
            <p:cNvPr id="9" name="Freeform 9"/>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10" name="TextBox 10"/>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en-US" sz="1599" dirty="0">
                <a:solidFill>
                  <a:srgbClr val="FFFFFF"/>
                </a:solidFill>
                <a:latin typeface="Open Sans Bold"/>
                <a:ea typeface="Open Sans Bold"/>
                <a:cs typeface="Open Sans Bold"/>
                <a:sym typeface="Open Sans Bold"/>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154665" y="-278009"/>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TextBox 6"/>
          <p:cNvSpPr txBox="1"/>
          <p:nvPr/>
        </p:nvSpPr>
        <p:spPr>
          <a:xfrm>
            <a:off x="1642244" y="2444916"/>
            <a:ext cx="5465878" cy="1251662"/>
          </a:xfrm>
          <a:prstGeom prst="rect">
            <a:avLst/>
          </a:prstGeom>
        </p:spPr>
        <p:txBody>
          <a:bodyPr lIns="0" tIns="0" rIns="0" bIns="0" rtlCol="0" anchor="t">
            <a:spAutoFit/>
          </a:bodyPr>
          <a:lstStyle/>
          <a:p>
            <a:pPr algn="ctr">
              <a:lnSpc>
                <a:spcPts val="10285"/>
              </a:lnSpc>
              <a:spcBef>
                <a:spcPct val="0"/>
              </a:spcBef>
            </a:pPr>
            <a:r>
              <a:rPr lang="en-US" sz="7346" dirty="0">
                <a:solidFill>
                  <a:srgbClr val="000000"/>
                </a:solidFill>
                <a:latin typeface="TT Hoves Bold"/>
                <a:ea typeface="TT Hoves Bold"/>
                <a:cs typeface="TT Hoves Bold"/>
                <a:sym typeface="TT Hoves Bold"/>
              </a:rPr>
              <a:t>Algorithms </a:t>
            </a:r>
          </a:p>
        </p:txBody>
      </p:sp>
      <p:sp>
        <p:nvSpPr>
          <p:cNvPr id="7" name="TextBox 7"/>
          <p:cNvSpPr txBox="1"/>
          <p:nvPr/>
        </p:nvSpPr>
        <p:spPr>
          <a:xfrm>
            <a:off x="1213114" y="3963856"/>
            <a:ext cx="8110805" cy="3020955"/>
          </a:xfrm>
          <a:prstGeom prst="rect">
            <a:avLst/>
          </a:prstGeom>
        </p:spPr>
        <p:txBody>
          <a:bodyPr lIns="0" tIns="0" rIns="0" bIns="0" rtlCol="0" anchor="t">
            <a:spAutoFit/>
          </a:bodyPr>
          <a:lstStyle/>
          <a:p>
            <a:pPr marL="921998" lvl="1" indent="-460999" algn="l">
              <a:lnSpc>
                <a:spcPts val="5978"/>
              </a:lnSpc>
              <a:buFont typeface="Arial"/>
              <a:buChar char="•"/>
            </a:pPr>
            <a:r>
              <a:rPr lang="en-US" sz="4270" dirty="0">
                <a:solidFill>
                  <a:srgbClr val="000000"/>
                </a:solidFill>
                <a:latin typeface="TT Hoves"/>
                <a:ea typeface="TT Hoves"/>
                <a:cs typeface="TT Hoves"/>
                <a:sym typeface="TT Hoves"/>
              </a:rPr>
              <a:t>P2P Networking Algorithms.</a:t>
            </a:r>
          </a:p>
          <a:p>
            <a:pPr marL="921998" lvl="1" indent="-460999" algn="l">
              <a:lnSpc>
                <a:spcPts val="5978"/>
              </a:lnSpc>
              <a:buFont typeface="Arial"/>
              <a:buChar char="•"/>
            </a:pPr>
            <a:r>
              <a:rPr lang="en-US" sz="4270" dirty="0">
                <a:solidFill>
                  <a:srgbClr val="000000"/>
                </a:solidFill>
                <a:latin typeface="TT Hoves"/>
                <a:ea typeface="TT Hoves"/>
                <a:cs typeface="TT Hoves"/>
                <a:sym typeface="TT Hoves"/>
              </a:rPr>
              <a:t>Encryption Algorithms.</a:t>
            </a:r>
          </a:p>
          <a:p>
            <a:pPr marL="921998" lvl="1" indent="-460999" algn="l">
              <a:lnSpc>
                <a:spcPts val="5978"/>
              </a:lnSpc>
              <a:buFont typeface="Arial"/>
              <a:buChar char="•"/>
            </a:pPr>
            <a:r>
              <a:rPr lang="en-US" sz="4270" dirty="0">
                <a:solidFill>
                  <a:srgbClr val="000000"/>
                </a:solidFill>
                <a:latin typeface="TT Hoves"/>
                <a:ea typeface="TT Hoves"/>
                <a:cs typeface="TT Hoves"/>
                <a:sym typeface="TT Hoves"/>
              </a:rPr>
              <a:t>Error Correction.</a:t>
            </a:r>
          </a:p>
          <a:p>
            <a:pPr algn="l">
              <a:lnSpc>
                <a:spcPts val="5978"/>
              </a:lnSpc>
            </a:pPr>
            <a:endParaRPr lang="en-US" sz="4270" dirty="0">
              <a:solidFill>
                <a:srgbClr val="000000"/>
              </a:solidFill>
              <a:latin typeface="TT Hoves"/>
              <a:ea typeface="TT Hoves"/>
              <a:cs typeface="TT Hoves"/>
              <a:sym typeface="TT Hoves"/>
            </a:endParaRPr>
          </a:p>
        </p:txBody>
      </p:sp>
      <p:sp>
        <p:nvSpPr>
          <p:cNvPr id="8" name="TextBox 8"/>
          <p:cNvSpPr txBox="1"/>
          <p:nvPr/>
        </p:nvSpPr>
        <p:spPr>
          <a:xfrm>
            <a:off x="9824117" y="2444916"/>
            <a:ext cx="5277325" cy="1251662"/>
          </a:xfrm>
          <a:prstGeom prst="rect">
            <a:avLst/>
          </a:prstGeom>
        </p:spPr>
        <p:txBody>
          <a:bodyPr lIns="0" tIns="0" rIns="0" bIns="0" rtlCol="0" anchor="t">
            <a:spAutoFit/>
          </a:bodyPr>
          <a:lstStyle/>
          <a:p>
            <a:pPr algn="ctr">
              <a:lnSpc>
                <a:spcPts val="10285"/>
              </a:lnSpc>
              <a:spcBef>
                <a:spcPct val="0"/>
              </a:spcBef>
            </a:pPr>
            <a:r>
              <a:rPr lang="en-US" sz="7346" dirty="0">
                <a:solidFill>
                  <a:srgbClr val="000000"/>
                </a:solidFill>
                <a:latin typeface="TT Hoves Bold"/>
                <a:ea typeface="TT Hoves Bold"/>
                <a:cs typeface="TT Hoves Bold"/>
                <a:sym typeface="TT Hoves Bold"/>
              </a:rPr>
              <a:t>Technology</a:t>
            </a:r>
          </a:p>
        </p:txBody>
      </p:sp>
      <p:sp>
        <p:nvSpPr>
          <p:cNvPr id="9" name="TextBox 9"/>
          <p:cNvSpPr txBox="1"/>
          <p:nvPr/>
        </p:nvSpPr>
        <p:spPr>
          <a:xfrm>
            <a:off x="9471461" y="3963856"/>
            <a:ext cx="8816539" cy="3744878"/>
          </a:xfrm>
          <a:prstGeom prst="rect">
            <a:avLst/>
          </a:prstGeom>
        </p:spPr>
        <p:txBody>
          <a:bodyPr lIns="0" tIns="0" rIns="0" bIns="0" rtlCol="0" anchor="t">
            <a:spAutoFit/>
          </a:bodyPr>
          <a:lstStyle/>
          <a:p>
            <a:pPr marL="921998" lvl="1" indent="-460999" algn="l">
              <a:lnSpc>
                <a:spcPts val="5978"/>
              </a:lnSpc>
              <a:buFont typeface="Arial"/>
              <a:buChar char="•"/>
            </a:pPr>
            <a:r>
              <a:rPr lang="en-US" sz="4270" dirty="0">
                <a:solidFill>
                  <a:srgbClr val="000000"/>
                </a:solidFill>
                <a:latin typeface="TT Hoves"/>
                <a:ea typeface="TT Hoves"/>
                <a:cs typeface="TT Hoves"/>
                <a:sym typeface="TT Hoves"/>
              </a:rPr>
              <a:t>Backend - Python.</a:t>
            </a:r>
          </a:p>
          <a:p>
            <a:pPr marL="921998" lvl="1" indent="-460999" algn="l">
              <a:lnSpc>
                <a:spcPts val="5978"/>
              </a:lnSpc>
              <a:buFont typeface="Arial"/>
              <a:buChar char="•"/>
            </a:pPr>
            <a:r>
              <a:rPr lang="en-US" sz="4270" dirty="0">
                <a:solidFill>
                  <a:srgbClr val="000000"/>
                </a:solidFill>
                <a:latin typeface="TT Hoves"/>
                <a:ea typeface="TT Hoves"/>
                <a:cs typeface="TT Hoves"/>
                <a:sym typeface="TT Hoves"/>
              </a:rPr>
              <a:t>Frontend - Angular.</a:t>
            </a:r>
          </a:p>
          <a:p>
            <a:pPr marL="921998" lvl="1" indent="-460999" algn="l">
              <a:lnSpc>
                <a:spcPts val="5978"/>
              </a:lnSpc>
              <a:buFont typeface="Arial"/>
              <a:buChar char="•"/>
            </a:pPr>
            <a:r>
              <a:rPr lang="en-US" sz="4270" dirty="0">
                <a:solidFill>
                  <a:srgbClr val="000000"/>
                </a:solidFill>
                <a:latin typeface="TT Hoves"/>
                <a:ea typeface="TT Hoves"/>
                <a:cs typeface="TT Hoves"/>
                <a:sym typeface="TT Hoves"/>
              </a:rPr>
              <a:t>Database - MongoDB.</a:t>
            </a:r>
          </a:p>
          <a:p>
            <a:pPr marL="921998" lvl="1" indent="-460999" algn="l">
              <a:lnSpc>
                <a:spcPts val="5978"/>
              </a:lnSpc>
              <a:buFont typeface="Arial"/>
              <a:buChar char="•"/>
            </a:pPr>
            <a:r>
              <a:rPr lang="en-US" sz="4270" dirty="0">
                <a:solidFill>
                  <a:srgbClr val="000000"/>
                </a:solidFill>
                <a:latin typeface="TT Hoves"/>
                <a:ea typeface="TT Hoves"/>
                <a:cs typeface="TT Hoves"/>
                <a:sym typeface="TT Hoves"/>
              </a:rPr>
              <a:t>Networking - WebRTC </a:t>
            </a:r>
          </a:p>
          <a:p>
            <a:pPr algn="l">
              <a:lnSpc>
                <a:spcPts val="5978"/>
              </a:lnSpc>
            </a:pPr>
            <a:endParaRPr lang="en-US" sz="4270" dirty="0">
              <a:solidFill>
                <a:srgbClr val="000000"/>
              </a:solidFill>
              <a:latin typeface="TT Hoves"/>
              <a:ea typeface="TT Hoves"/>
              <a:cs typeface="TT Hoves"/>
              <a:sym typeface="TT Hoves"/>
            </a:endParaRPr>
          </a:p>
        </p:txBody>
      </p:sp>
      <p:grpSp>
        <p:nvGrpSpPr>
          <p:cNvPr id="10" name="Group 10"/>
          <p:cNvGrpSpPr/>
          <p:nvPr/>
        </p:nvGrpSpPr>
        <p:grpSpPr>
          <a:xfrm>
            <a:off x="17482968" y="8660782"/>
            <a:ext cx="805032" cy="597518"/>
            <a:chOff x="0" y="0"/>
            <a:chExt cx="1095080" cy="812800"/>
          </a:xfrm>
        </p:grpSpPr>
        <p:sp>
          <p:nvSpPr>
            <p:cNvPr id="11" name="Freeform 11"/>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12" name="TextBox 12"/>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en-US" sz="1599" dirty="0">
                <a:solidFill>
                  <a:srgbClr val="FFFFFF"/>
                </a:solidFill>
                <a:latin typeface="Open Sans Bold"/>
                <a:ea typeface="Open Sans Bold"/>
                <a:cs typeface="Open Sans Bold"/>
                <a:sym typeface="Open Sans Bold"/>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269329" y="-278009"/>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TextBox 6"/>
          <p:cNvSpPr txBox="1"/>
          <p:nvPr/>
        </p:nvSpPr>
        <p:spPr>
          <a:xfrm>
            <a:off x="4378150" y="895350"/>
            <a:ext cx="9531701" cy="1251662"/>
          </a:xfrm>
          <a:prstGeom prst="rect">
            <a:avLst/>
          </a:prstGeom>
        </p:spPr>
        <p:txBody>
          <a:bodyPr lIns="0" tIns="0" rIns="0" bIns="0" rtlCol="0" anchor="t">
            <a:spAutoFit/>
          </a:bodyPr>
          <a:lstStyle/>
          <a:p>
            <a:pPr algn="ctr">
              <a:lnSpc>
                <a:spcPts val="10285"/>
              </a:lnSpc>
              <a:spcBef>
                <a:spcPct val="0"/>
              </a:spcBef>
            </a:pPr>
            <a:r>
              <a:rPr lang="en-US" sz="7346" dirty="0">
                <a:solidFill>
                  <a:srgbClr val="000000"/>
                </a:solidFill>
                <a:latin typeface="TT Hoves Bold"/>
                <a:ea typeface="TT Hoves Bold"/>
                <a:cs typeface="TT Hoves Bold"/>
                <a:sym typeface="TT Hoves Bold"/>
              </a:rPr>
              <a:t>Stages</a:t>
            </a:r>
          </a:p>
        </p:txBody>
      </p:sp>
      <p:sp>
        <p:nvSpPr>
          <p:cNvPr id="7" name="TextBox 7"/>
          <p:cNvSpPr txBox="1"/>
          <p:nvPr/>
        </p:nvSpPr>
        <p:spPr>
          <a:xfrm>
            <a:off x="1028700" y="2602342"/>
            <a:ext cx="6257897" cy="5384807"/>
          </a:xfrm>
          <a:prstGeom prst="rect">
            <a:avLst/>
          </a:prstGeom>
        </p:spPr>
        <p:txBody>
          <a:bodyPr lIns="0" tIns="0" rIns="0" bIns="0" rtlCol="0" anchor="t">
            <a:spAutoFit/>
          </a:bodyPr>
          <a:lstStyle/>
          <a:p>
            <a:pPr marL="755641" lvl="1" indent="-377820" algn="l">
              <a:lnSpc>
                <a:spcPts val="8749"/>
              </a:lnSpc>
              <a:buAutoNum type="arabicPeriod"/>
            </a:pPr>
            <a:r>
              <a:rPr lang="en-US" sz="3499" dirty="0">
                <a:solidFill>
                  <a:srgbClr val="000000"/>
                </a:solidFill>
                <a:latin typeface="TT Hoves"/>
                <a:ea typeface="TT Hoves"/>
                <a:cs typeface="TT Hoves"/>
                <a:sym typeface="TT Hoves"/>
              </a:rPr>
              <a:t>System Design.</a:t>
            </a:r>
          </a:p>
          <a:p>
            <a:pPr marL="755641" lvl="1" indent="-377820" algn="l">
              <a:lnSpc>
                <a:spcPts val="8749"/>
              </a:lnSpc>
              <a:buAutoNum type="arabicPeriod"/>
            </a:pPr>
            <a:r>
              <a:rPr lang="en-US" sz="3499" dirty="0">
                <a:solidFill>
                  <a:srgbClr val="000000"/>
                </a:solidFill>
                <a:latin typeface="TT Hoves"/>
                <a:ea typeface="TT Hoves"/>
                <a:cs typeface="TT Hoves"/>
                <a:sym typeface="TT Hoves"/>
              </a:rPr>
              <a:t>Backend Development.</a:t>
            </a:r>
          </a:p>
          <a:p>
            <a:pPr marL="755641" lvl="1" indent="-377820" algn="l">
              <a:lnSpc>
                <a:spcPts val="8749"/>
              </a:lnSpc>
              <a:buAutoNum type="arabicPeriod"/>
            </a:pPr>
            <a:r>
              <a:rPr lang="en-US" sz="3499" dirty="0">
                <a:solidFill>
                  <a:srgbClr val="000000"/>
                </a:solidFill>
                <a:latin typeface="TT Hoves"/>
                <a:ea typeface="TT Hoves"/>
                <a:cs typeface="TT Hoves"/>
                <a:sym typeface="TT Hoves"/>
              </a:rPr>
              <a:t>Frontend Development.</a:t>
            </a:r>
          </a:p>
          <a:p>
            <a:pPr marL="755641" lvl="1" indent="-377820" algn="l">
              <a:lnSpc>
                <a:spcPts val="8749"/>
              </a:lnSpc>
              <a:buAutoNum type="arabicPeriod"/>
            </a:pPr>
            <a:r>
              <a:rPr lang="en-US" sz="3499" dirty="0">
                <a:solidFill>
                  <a:srgbClr val="000000"/>
                </a:solidFill>
                <a:latin typeface="TT Hoves"/>
                <a:ea typeface="TT Hoves"/>
                <a:cs typeface="TT Hoves"/>
                <a:sym typeface="TT Hoves"/>
              </a:rPr>
              <a:t> Integration and Testing.</a:t>
            </a:r>
          </a:p>
          <a:p>
            <a:pPr marL="755641" lvl="1" indent="-377820" algn="l">
              <a:lnSpc>
                <a:spcPts val="8749"/>
              </a:lnSpc>
              <a:buAutoNum type="arabicPeriod"/>
            </a:pPr>
            <a:r>
              <a:rPr lang="en-US" sz="3499" dirty="0">
                <a:solidFill>
                  <a:srgbClr val="000000"/>
                </a:solidFill>
                <a:latin typeface="TT Hoves"/>
                <a:ea typeface="TT Hoves"/>
                <a:cs typeface="TT Hoves"/>
                <a:sym typeface="TT Hoves"/>
              </a:rPr>
              <a:t>Deployment.</a:t>
            </a:r>
          </a:p>
        </p:txBody>
      </p:sp>
      <p:grpSp>
        <p:nvGrpSpPr>
          <p:cNvPr id="8" name="Group 8"/>
          <p:cNvGrpSpPr/>
          <p:nvPr/>
        </p:nvGrpSpPr>
        <p:grpSpPr>
          <a:xfrm>
            <a:off x="17482968" y="8660782"/>
            <a:ext cx="805032" cy="597518"/>
            <a:chOff x="0" y="0"/>
            <a:chExt cx="1095080" cy="812800"/>
          </a:xfrm>
        </p:grpSpPr>
        <p:sp>
          <p:nvSpPr>
            <p:cNvPr id="9" name="Freeform 9"/>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10" name="TextBox 10"/>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en-US" sz="1599" dirty="0">
                <a:solidFill>
                  <a:srgbClr val="FFFFFF"/>
                </a:solidFill>
                <a:latin typeface="Open Sans Bold"/>
                <a:ea typeface="Open Sans Bold"/>
                <a:cs typeface="Open Sans Bold"/>
                <a:sym typeface="Open Sans Bold"/>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269329" y="-278009"/>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grpSp>
        <p:nvGrpSpPr>
          <p:cNvPr id="6" name="Group 6"/>
          <p:cNvGrpSpPr/>
          <p:nvPr/>
        </p:nvGrpSpPr>
        <p:grpSpPr>
          <a:xfrm>
            <a:off x="17482968" y="8660782"/>
            <a:ext cx="805032" cy="597518"/>
            <a:chOff x="0" y="0"/>
            <a:chExt cx="1095080" cy="812800"/>
          </a:xfrm>
        </p:grpSpPr>
        <p:sp>
          <p:nvSpPr>
            <p:cNvPr id="7" name="Freeform 7"/>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8" name="TextBox 8"/>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008022" y="438623"/>
            <a:ext cx="7087278" cy="9020172"/>
          </a:xfrm>
          <a:custGeom>
            <a:avLst/>
            <a:gdLst/>
            <a:ahLst/>
            <a:cxnLst/>
            <a:rect l="l" t="t" r="r" b="b"/>
            <a:pathLst>
              <a:path w="7087278" h="9020172">
                <a:moveTo>
                  <a:pt x="0" y="0"/>
                </a:moveTo>
                <a:lnTo>
                  <a:pt x="7087278" y="0"/>
                </a:lnTo>
                <a:lnTo>
                  <a:pt x="7087278" y="9020172"/>
                </a:lnTo>
                <a:lnTo>
                  <a:pt x="0" y="9020172"/>
                </a:lnTo>
                <a:lnTo>
                  <a:pt x="0" y="0"/>
                </a:lnTo>
                <a:close/>
              </a:path>
            </a:pathLst>
          </a:custGeom>
          <a:blipFill>
            <a:blip r:embed="rId4"/>
            <a:stretch>
              <a:fillRect/>
            </a:stretch>
          </a:blipFill>
        </p:spPr>
        <p:txBody>
          <a:bodyPr/>
          <a:lstStyle/>
          <a:p>
            <a:endParaRPr lang="en-IL"/>
          </a:p>
        </p:txBody>
      </p:sp>
      <p:sp>
        <p:nvSpPr>
          <p:cNvPr id="10" name="Freeform 10"/>
          <p:cNvSpPr/>
          <p:nvPr/>
        </p:nvSpPr>
        <p:spPr>
          <a:xfrm>
            <a:off x="8608743" y="1753030"/>
            <a:ext cx="5317414" cy="6242666"/>
          </a:xfrm>
          <a:custGeom>
            <a:avLst/>
            <a:gdLst/>
            <a:ahLst/>
            <a:cxnLst/>
            <a:rect l="l" t="t" r="r" b="b"/>
            <a:pathLst>
              <a:path w="5317414" h="6242666">
                <a:moveTo>
                  <a:pt x="0" y="0"/>
                </a:moveTo>
                <a:lnTo>
                  <a:pt x="5317414" y="0"/>
                </a:lnTo>
                <a:lnTo>
                  <a:pt x="5317414" y="6242666"/>
                </a:lnTo>
                <a:lnTo>
                  <a:pt x="0" y="6242666"/>
                </a:lnTo>
                <a:lnTo>
                  <a:pt x="0" y="0"/>
                </a:lnTo>
                <a:close/>
              </a:path>
            </a:pathLst>
          </a:custGeom>
          <a:blipFill>
            <a:blip r:embed="rId5"/>
            <a:stretch>
              <a:fillRect/>
            </a:stretch>
          </a:blipFill>
        </p:spPr>
        <p:txBody>
          <a:bodyPr/>
          <a:lstStyle/>
          <a:p>
            <a:endParaRPr lang="en-IL"/>
          </a:p>
        </p:txBody>
      </p:sp>
      <p:sp>
        <p:nvSpPr>
          <p:cNvPr id="11" name="Freeform 11"/>
          <p:cNvSpPr/>
          <p:nvPr/>
        </p:nvSpPr>
        <p:spPr>
          <a:xfrm>
            <a:off x="14421457" y="1901723"/>
            <a:ext cx="3119534" cy="6093973"/>
          </a:xfrm>
          <a:custGeom>
            <a:avLst/>
            <a:gdLst/>
            <a:ahLst/>
            <a:cxnLst/>
            <a:rect l="l" t="t" r="r" b="b"/>
            <a:pathLst>
              <a:path w="3119534" h="6093973">
                <a:moveTo>
                  <a:pt x="0" y="0"/>
                </a:moveTo>
                <a:lnTo>
                  <a:pt x="3119534" y="0"/>
                </a:lnTo>
                <a:lnTo>
                  <a:pt x="3119534" y="6093973"/>
                </a:lnTo>
                <a:lnTo>
                  <a:pt x="0" y="6093973"/>
                </a:lnTo>
                <a:lnTo>
                  <a:pt x="0" y="0"/>
                </a:lnTo>
                <a:close/>
              </a:path>
            </a:pathLst>
          </a:custGeom>
          <a:blipFill>
            <a:blip r:embed="rId6"/>
            <a:stretch>
              <a:fillRect/>
            </a:stretch>
          </a:blipFill>
        </p:spPr>
        <p:txBody>
          <a:bodyPr/>
          <a:lstStyle/>
          <a:p>
            <a:endParaRPr lang="en-IL"/>
          </a:p>
        </p:txBody>
      </p:sp>
      <p:sp>
        <p:nvSpPr>
          <p:cNvPr id="12" name="TextBox 12"/>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en-US" sz="1599" dirty="0">
                <a:solidFill>
                  <a:srgbClr val="FFFFFF"/>
                </a:solidFill>
                <a:latin typeface="Open Sans Bold"/>
                <a:ea typeface="Open Sans Bold"/>
                <a:cs typeface="Open Sans Bold"/>
                <a:sym typeface="Open Sans Bold"/>
              </a:rPr>
              <a:t>10</a:t>
            </a:r>
          </a:p>
        </p:txBody>
      </p:sp>
      <p:sp>
        <p:nvSpPr>
          <p:cNvPr id="13" name="TextBox 13"/>
          <p:cNvSpPr txBox="1"/>
          <p:nvPr/>
        </p:nvSpPr>
        <p:spPr>
          <a:xfrm>
            <a:off x="10905849" y="336194"/>
            <a:ext cx="4470072" cy="1251662"/>
          </a:xfrm>
          <a:prstGeom prst="rect">
            <a:avLst/>
          </a:prstGeom>
        </p:spPr>
        <p:txBody>
          <a:bodyPr lIns="0" tIns="0" rIns="0" bIns="0" rtlCol="0" anchor="t">
            <a:spAutoFit/>
          </a:bodyPr>
          <a:lstStyle/>
          <a:p>
            <a:pPr algn="ctr">
              <a:lnSpc>
                <a:spcPts val="10285"/>
              </a:lnSpc>
              <a:spcBef>
                <a:spcPct val="0"/>
              </a:spcBef>
            </a:pPr>
            <a:r>
              <a:rPr lang="en-US" sz="7346">
                <a:solidFill>
                  <a:srgbClr val="000000"/>
                </a:solidFill>
                <a:latin typeface="TT Hoves Bold"/>
                <a:ea typeface="TT Hoves Bold"/>
                <a:cs typeface="TT Hoves Bold"/>
                <a:sym typeface="TT Hoves Bold"/>
              </a:rPr>
              <a:t>Activity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269329" y="-278009"/>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grpSp>
        <p:nvGrpSpPr>
          <p:cNvPr id="6" name="Group 6"/>
          <p:cNvGrpSpPr/>
          <p:nvPr/>
        </p:nvGrpSpPr>
        <p:grpSpPr>
          <a:xfrm>
            <a:off x="17482968" y="8660782"/>
            <a:ext cx="805032" cy="597518"/>
            <a:chOff x="0" y="0"/>
            <a:chExt cx="1095080" cy="812800"/>
          </a:xfrm>
        </p:grpSpPr>
        <p:sp>
          <p:nvSpPr>
            <p:cNvPr id="7" name="Freeform 7"/>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8" name="TextBox 8"/>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4954135" y="1546514"/>
            <a:ext cx="12258161" cy="8140018"/>
          </a:xfrm>
          <a:custGeom>
            <a:avLst/>
            <a:gdLst/>
            <a:ahLst/>
            <a:cxnLst/>
            <a:rect l="l" t="t" r="r" b="b"/>
            <a:pathLst>
              <a:path w="12258161" h="8140018">
                <a:moveTo>
                  <a:pt x="0" y="0"/>
                </a:moveTo>
                <a:lnTo>
                  <a:pt x="12258160" y="0"/>
                </a:lnTo>
                <a:lnTo>
                  <a:pt x="12258160" y="8140018"/>
                </a:lnTo>
                <a:lnTo>
                  <a:pt x="0" y="8140018"/>
                </a:lnTo>
                <a:lnTo>
                  <a:pt x="0" y="0"/>
                </a:lnTo>
                <a:close/>
              </a:path>
            </a:pathLst>
          </a:custGeom>
          <a:blipFill>
            <a:blip r:embed="rId4"/>
            <a:stretch>
              <a:fillRect/>
            </a:stretch>
          </a:blipFill>
        </p:spPr>
        <p:txBody>
          <a:bodyPr/>
          <a:lstStyle/>
          <a:p>
            <a:endParaRPr lang="en-IL" dirty="0"/>
          </a:p>
        </p:txBody>
      </p:sp>
      <p:sp>
        <p:nvSpPr>
          <p:cNvPr id="10" name="TextBox 10"/>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en-US" sz="1599" dirty="0">
                <a:solidFill>
                  <a:srgbClr val="FFFFFF"/>
                </a:solidFill>
                <a:latin typeface="Open Sans Bold"/>
                <a:ea typeface="Open Sans Bold"/>
                <a:cs typeface="Open Sans Bold"/>
                <a:sym typeface="Open Sans Bold"/>
              </a:rPr>
              <a:t>11</a:t>
            </a:r>
          </a:p>
        </p:txBody>
      </p:sp>
      <p:sp>
        <p:nvSpPr>
          <p:cNvPr id="11" name="TextBox 11"/>
          <p:cNvSpPr txBox="1"/>
          <p:nvPr/>
        </p:nvSpPr>
        <p:spPr>
          <a:xfrm>
            <a:off x="4017775" y="600468"/>
            <a:ext cx="10252450" cy="1251632"/>
          </a:xfrm>
          <a:prstGeom prst="rect">
            <a:avLst/>
          </a:prstGeom>
        </p:spPr>
        <p:txBody>
          <a:bodyPr lIns="0" tIns="0" rIns="0" bIns="0" rtlCol="0" anchor="t">
            <a:spAutoFit/>
          </a:bodyPr>
          <a:lstStyle/>
          <a:p>
            <a:pPr algn="ctr">
              <a:lnSpc>
                <a:spcPts val="10285"/>
              </a:lnSpc>
              <a:spcBef>
                <a:spcPct val="0"/>
              </a:spcBef>
            </a:pPr>
            <a:r>
              <a:rPr lang="en-US" sz="7346" dirty="0">
                <a:solidFill>
                  <a:srgbClr val="000000"/>
                </a:solidFill>
                <a:latin typeface="TT Hoves Bold"/>
                <a:ea typeface="TT Hoves Bold"/>
                <a:cs typeface="TT Hoves Bold"/>
                <a:sym typeface="TT Hoves Bold"/>
              </a:rPr>
              <a:t>Upload File Sequence</a:t>
            </a:r>
          </a:p>
        </p:txBody>
      </p:sp>
      <p:pic>
        <p:nvPicPr>
          <p:cNvPr id="1026" name="Picture 2">
            <a:extLst>
              <a:ext uri="{FF2B5EF4-FFF2-40B4-BE49-F238E27FC236}">
                <a16:creationId xmlns:a16="http://schemas.microsoft.com/office/drawing/2014/main" id="{65CDE76F-A611-3A55-893D-75F57B0E00C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4221629"/>
            <a:ext cx="4954135" cy="27897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269329" y="-278009"/>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grpSp>
        <p:nvGrpSpPr>
          <p:cNvPr id="6" name="Group 6"/>
          <p:cNvGrpSpPr/>
          <p:nvPr/>
        </p:nvGrpSpPr>
        <p:grpSpPr>
          <a:xfrm>
            <a:off x="17482968" y="8660782"/>
            <a:ext cx="805032" cy="597518"/>
            <a:chOff x="0" y="0"/>
            <a:chExt cx="1095080" cy="812800"/>
          </a:xfrm>
        </p:grpSpPr>
        <p:sp>
          <p:nvSpPr>
            <p:cNvPr id="7" name="Freeform 7"/>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8" name="TextBox 8"/>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2370596" y="1690967"/>
            <a:ext cx="13546807" cy="8596033"/>
          </a:xfrm>
          <a:custGeom>
            <a:avLst/>
            <a:gdLst/>
            <a:ahLst/>
            <a:cxnLst/>
            <a:rect l="l" t="t" r="r" b="b"/>
            <a:pathLst>
              <a:path w="13546807" h="8596033">
                <a:moveTo>
                  <a:pt x="0" y="0"/>
                </a:moveTo>
                <a:lnTo>
                  <a:pt x="13546808" y="0"/>
                </a:lnTo>
                <a:lnTo>
                  <a:pt x="13546808" y="8596033"/>
                </a:lnTo>
                <a:lnTo>
                  <a:pt x="0" y="8596033"/>
                </a:lnTo>
                <a:lnTo>
                  <a:pt x="0" y="0"/>
                </a:lnTo>
                <a:close/>
              </a:path>
            </a:pathLst>
          </a:custGeom>
          <a:blipFill>
            <a:blip r:embed="rId4"/>
            <a:stretch>
              <a:fillRect b="-4186"/>
            </a:stretch>
          </a:blipFill>
        </p:spPr>
        <p:txBody>
          <a:bodyPr/>
          <a:lstStyle/>
          <a:p>
            <a:endParaRPr lang="en-IL"/>
          </a:p>
        </p:txBody>
      </p:sp>
      <p:sp>
        <p:nvSpPr>
          <p:cNvPr id="10" name="TextBox 10"/>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en-US" sz="1599" dirty="0">
                <a:solidFill>
                  <a:srgbClr val="FFFFFF"/>
                </a:solidFill>
                <a:latin typeface="Open Sans Bold"/>
                <a:ea typeface="Open Sans Bold"/>
                <a:cs typeface="Open Sans Bold"/>
                <a:sym typeface="Open Sans Bold"/>
              </a:rPr>
              <a:t>12</a:t>
            </a:r>
          </a:p>
        </p:txBody>
      </p:sp>
      <p:sp>
        <p:nvSpPr>
          <p:cNvPr id="11" name="TextBox 11"/>
          <p:cNvSpPr txBox="1"/>
          <p:nvPr/>
        </p:nvSpPr>
        <p:spPr>
          <a:xfrm>
            <a:off x="3352103" y="439305"/>
            <a:ext cx="11583794" cy="1251632"/>
          </a:xfrm>
          <a:prstGeom prst="rect">
            <a:avLst/>
          </a:prstGeom>
        </p:spPr>
        <p:txBody>
          <a:bodyPr lIns="0" tIns="0" rIns="0" bIns="0" rtlCol="0" anchor="t">
            <a:spAutoFit/>
          </a:bodyPr>
          <a:lstStyle/>
          <a:p>
            <a:pPr algn="ctr">
              <a:lnSpc>
                <a:spcPts val="10285"/>
              </a:lnSpc>
              <a:spcBef>
                <a:spcPct val="0"/>
              </a:spcBef>
            </a:pPr>
            <a:r>
              <a:rPr lang="en-US" sz="7346" dirty="0">
                <a:solidFill>
                  <a:srgbClr val="000000"/>
                </a:solidFill>
                <a:latin typeface="TT Hoves Bold"/>
                <a:ea typeface="TT Hoves Bold"/>
                <a:cs typeface="TT Hoves Bold"/>
                <a:sym typeface="TT Hoves Bold"/>
              </a:rPr>
              <a:t>Download File Sequence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269329" y="-278009"/>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grpSp>
        <p:nvGrpSpPr>
          <p:cNvPr id="6" name="Group 6"/>
          <p:cNvGrpSpPr/>
          <p:nvPr/>
        </p:nvGrpSpPr>
        <p:grpSpPr>
          <a:xfrm>
            <a:off x="17482968" y="8660782"/>
            <a:ext cx="805032" cy="597518"/>
            <a:chOff x="0" y="0"/>
            <a:chExt cx="1095080" cy="812800"/>
          </a:xfrm>
        </p:grpSpPr>
        <p:sp>
          <p:nvSpPr>
            <p:cNvPr id="7" name="Freeform 7"/>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8" name="TextBox 8"/>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337593" y="1852130"/>
            <a:ext cx="15774281" cy="7292056"/>
          </a:xfrm>
          <a:custGeom>
            <a:avLst/>
            <a:gdLst/>
            <a:ahLst/>
            <a:cxnLst/>
            <a:rect l="l" t="t" r="r" b="b"/>
            <a:pathLst>
              <a:path w="15774281" h="7292056">
                <a:moveTo>
                  <a:pt x="0" y="0"/>
                </a:moveTo>
                <a:lnTo>
                  <a:pt x="15774281" y="0"/>
                </a:lnTo>
                <a:lnTo>
                  <a:pt x="15774281" y="7292056"/>
                </a:lnTo>
                <a:lnTo>
                  <a:pt x="0" y="7292056"/>
                </a:lnTo>
                <a:lnTo>
                  <a:pt x="0" y="0"/>
                </a:lnTo>
                <a:close/>
              </a:path>
            </a:pathLst>
          </a:custGeom>
          <a:blipFill>
            <a:blip r:embed="rId4"/>
            <a:stretch>
              <a:fillRect r="-934"/>
            </a:stretch>
          </a:blipFill>
        </p:spPr>
        <p:txBody>
          <a:bodyPr/>
          <a:lstStyle/>
          <a:p>
            <a:endParaRPr lang="en-IL"/>
          </a:p>
        </p:txBody>
      </p:sp>
      <p:sp>
        <p:nvSpPr>
          <p:cNvPr id="10" name="TextBox 10"/>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en-US" sz="1599" dirty="0">
                <a:solidFill>
                  <a:srgbClr val="FFFFFF"/>
                </a:solidFill>
                <a:latin typeface="Open Sans Bold"/>
                <a:ea typeface="Open Sans Bold"/>
                <a:cs typeface="Open Sans Bold"/>
                <a:sym typeface="Open Sans Bold"/>
              </a:rPr>
              <a:t>13</a:t>
            </a:r>
          </a:p>
        </p:txBody>
      </p:sp>
      <p:sp>
        <p:nvSpPr>
          <p:cNvPr id="11" name="TextBox 11"/>
          <p:cNvSpPr txBox="1"/>
          <p:nvPr/>
        </p:nvSpPr>
        <p:spPr>
          <a:xfrm>
            <a:off x="4861380" y="600468"/>
            <a:ext cx="8565241" cy="1251632"/>
          </a:xfrm>
          <a:prstGeom prst="rect">
            <a:avLst/>
          </a:prstGeom>
        </p:spPr>
        <p:txBody>
          <a:bodyPr lIns="0" tIns="0" rIns="0" bIns="0" rtlCol="0" anchor="t">
            <a:spAutoFit/>
          </a:bodyPr>
          <a:lstStyle/>
          <a:p>
            <a:pPr algn="ctr">
              <a:lnSpc>
                <a:spcPts val="10285"/>
              </a:lnSpc>
              <a:spcBef>
                <a:spcPct val="0"/>
              </a:spcBef>
            </a:pPr>
            <a:r>
              <a:rPr lang="en-US" sz="7346" dirty="0">
                <a:solidFill>
                  <a:srgbClr val="000000"/>
                </a:solidFill>
                <a:latin typeface="TT Hoves Bold"/>
                <a:ea typeface="TT Hoves Bold"/>
                <a:cs typeface="TT Hoves Bold"/>
                <a:sym typeface="TT Hoves Bold"/>
              </a:rPr>
              <a:t>Search Sequence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269329" y="-278009"/>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grpSp>
        <p:nvGrpSpPr>
          <p:cNvPr id="6" name="Group 6"/>
          <p:cNvGrpSpPr/>
          <p:nvPr/>
        </p:nvGrpSpPr>
        <p:grpSpPr>
          <a:xfrm>
            <a:off x="17482968" y="8660782"/>
            <a:ext cx="805032" cy="597518"/>
            <a:chOff x="0" y="0"/>
            <a:chExt cx="1095080" cy="812800"/>
          </a:xfrm>
        </p:grpSpPr>
        <p:sp>
          <p:nvSpPr>
            <p:cNvPr id="7" name="Freeform 7"/>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8" name="TextBox 8"/>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2507922" y="2189056"/>
            <a:ext cx="13272155" cy="5908888"/>
          </a:xfrm>
          <a:custGeom>
            <a:avLst/>
            <a:gdLst/>
            <a:ahLst/>
            <a:cxnLst/>
            <a:rect l="l" t="t" r="r" b="b"/>
            <a:pathLst>
              <a:path w="13272155" h="5908888">
                <a:moveTo>
                  <a:pt x="0" y="0"/>
                </a:moveTo>
                <a:lnTo>
                  <a:pt x="13272156" y="0"/>
                </a:lnTo>
                <a:lnTo>
                  <a:pt x="13272156" y="5908888"/>
                </a:lnTo>
                <a:lnTo>
                  <a:pt x="0" y="5908888"/>
                </a:lnTo>
                <a:lnTo>
                  <a:pt x="0" y="0"/>
                </a:lnTo>
                <a:close/>
              </a:path>
            </a:pathLst>
          </a:custGeom>
          <a:blipFill>
            <a:blip r:embed="rId4"/>
            <a:stretch>
              <a:fillRect/>
            </a:stretch>
          </a:blipFill>
        </p:spPr>
        <p:txBody>
          <a:bodyPr/>
          <a:lstStyle/>
          <a:p>
            <a:endParaRPr lang="en-IL" dirty="0"/>
          </a:p>
        </p:txBody>
      </p:sp>
      <p:sp>
        <p:nvSpPr>
          <p:cNvPr id="10" name="TextBox 10"/>
          <p:cNvSpPr txBox="1"/>
          <p:nvPr/>
        </p:nvSpPr>
        <p:spPr>
          <a:xfrm>
            <a:off x="4378150" y="895350"/>
            <a:ext cx="9531701" cy="1251662"/>
          </a:xfrm>
          <a:prstGeom prst="rect">
            <a:avLst/>
          </a:prstGeom>
        </p:spPr>
        <p:txBody>
          <a:bodyPr lIns="0" tIns="0" rIns="0" bIns="0" rtlCol="0" anchor="t">
            <a:spAutoFit/>
          </a:bodyPr>
          <a:lstStyle/>
          <a:p>
            <a:pPr algn="ctr">
              <a:lnSpc>
                <a:spcPts val="10285"/>
              </a:lnSpc>
              <a:spcBef>
                <a:spcPct val="0"/>
              </a:spcBef>
            </a:pPr>
            <a:r>
              <a:rPr lang="en-US" sz="7346" dirty="0">
                <a:solidFill>
                  <a:srgbClr val="000000"/>
                </a:solidFill>
                <a:latin typeface="TT Hoves Bold"/>
                <a:ea typeface="TT Hoves Bold"/>
                <a:cs typeface="TT Hoves Bold"/>
                <a:sym typeface="TT Hoves Bold"/>
              </a:rPr>
              <a:t>Torrents Screen</a:t>
            </a:r>
          </a:p>
        </p:txBody>
      </p:sp>
      <p:sp>
        <p:nvSpPr>
          <p:cNvPr id="11" name="TextBox 11"/>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en-US" sz="1599" dirty="0">
                <a:solidFill>
                  <a:srgbClr val="FFFFFF"/>
                </a:solidFill>
                <a:latin typeface="Open Sans Bold"/>
                <a:ea typeface="Open Sans Bold"/>
                <a:cs typeface="Open Sans Bold"/>
                <a:sym typeface="Open Sans Bold"/>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269330" y="-278009"/>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grpSp>
        <p:nvGrpSpPr>
          <p:cNvPr id="6" name="Group 6"/>
          <p:cNvGrpSpPr/>
          <p:nvPr/>
        </p:nvGrpSpPr>
        <p:grpSpPr>
          <a:xfrm>
            <a:off x="17482968" y="8660782"/>
            <a:ext cx="805032" cy="597518"/>
            <a:chOff x="0" y="0"/>
            <a:chExt cx="1095080" cy="812800"/>
          </a:xfrm>
        </p:grpSpPr>
        <p:sp>
          <p:nvSpPr>
            <p:cNvPr id="7" name="Freeform 7"/>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8" name="TextBox 8"/>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2481387" y="2314496"/>
            <a:ext cx="13325226" cy="6182190"/>
          </a:xfrm>
          <a:custGeom>
            <a:avLst/>
            <a:gdLst/>
            <a:ahLst/>
            <a:cxnLst/>
            <a:rect l="l" t="t" r="r" b="b"/>
            <a:pathLst>
              <a:path w="13325226" h="6182190">
                <a:moveTo>
                  <a:pt x="0" y="0"/>
                </a:moveTo>
                <a:lnTo>
                  <a:pt x="13325226" y="0"/>
                </a:lnTo>
                <a:lnTo>
                  <a:pt x="13325226" y="6182190"/>
                </a:lnTo>
                <a:lnTo>
                  <a:pt x="0" y="6182190"/>
                </a:lnTo>
                <a:lnTo>
                  <a:pt x="0" y="0"/>
                </a:lnTo>
                <a:close/>
              </a:path>
            </a:pathLst>
          </a:custGeom>
          <a:blipFill>
            <a:blip r:embed="rId4"/>
            <a:stretch>
              <a:fillRect/>
            </a:stretch>
          </a:blipFill>
        </p:spPr>
        <p:txBody>
          <a:bodyPr/>
          <a:lstStyle/>
          <a:p>
            <a:endParaRPr lang="en-IL"/>
          </a:p>
        </p:txBody>
      </p:sp>
      <p:sp>
        <p:nvSpPr>
          <p:cNvPr id="10" name="TextBox 10"/>
          <p:cNvSpPr txBox="1"/>
          <p:nvPr/>
        </p:nvSpPr>
        <p:spPr>
          <a:xfrm>
            <a:off x="4378150" y="895350"/>
            <a:ext cx="9531701" cy="1251662"/>
          </a:xfrm>
          <a:prstGeom prst="rect">
            <a:avLst/>
          </a:prstGeom>
        </p:spPr>
        <p:txBody>
          <a:bodyPr lIns="0" tIns="0" rIns="0" bIns="0" rtlCol="0" anchor="t">
            <a:spAutoFit/>
          </a:bodyPr>
          <a:lstStyle/>
          <a:p>
            <a:pPr algn="ctr">
              <a:lnSpc>
                <a:spcPts val="10285"/>
              </a:lnSpc>
              <a:spcBef>
                <a:spcPct val="0"/>
              </a:spcBef>
            </a:pPr>
            <a:r>
              <a:rPr lang="en-US" sz="7346">
                <a:solidFill>
                  <a:srgbClr val="000000"/>
                </a:solidFill>
                <a:latin typeface="TT Hoves Bold"/>
                <a:ea typeface="TT Hoves Bold"/>
                <a:cs typeface="TT Hoves Bold"/>
                <a:sym typeface="TT Hoves Bold"/>
              </a:rPr>
              <a:t>Offers Screen</a:t>
            </a:r>
          </a:p>
        </p:txBody>
      </p:sp>
      <p:sp>
        <p:nvSpPr>
          <p:cNvPr id="11" name="TextBox 11"/>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en-US" sz="1599" dirty="0">
                <a:solidFill>
                  <a:srgbClr val="FFFFFF"/>
                </a:solidFill>
                <a:latin typeface="Open Sans Bold"/>
                <a:ea typeface="Open Sans Bold"/>
                <a:cs typeface="Open Sans Bold"/>
                <a:sym typeface="Open Sans Bold"/>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154665" y="-278009"/>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TextBox 6"/>
          <p:cNvSpPr txBox="1"/>
          <p:nvPr/>
        </p:nvSpPr>
        <p:spPr>
          <a:xfrm>
            <a:off x="4333377" y="2622187"/>
            <a:ext cx="9400655" cy="1251662"/>
          </a:xfrm>
          <a:prstGeom prst="rect">
            <a:avLst/>
          </a:prstGeom>
        </p:spPr>
        <p:txBody>
          <a:bodyPr lIns="0" tIns="0" rIns="0" bIns="0" rtlCol="0" anchor="t">
            <a:spAutoFit/>
          </a:bodyPr>
          <a:lstStyle/>
          <a:p>
            <a:pPr algn="ctr">
              <a:lnSpc>
                <a:spcPts val="10285"/>
              </a:lnSpc>
              <a:spcBef>
                <a:spcPct val="0"/>
              </a:spcBef>
            </a:pPr>
            <a:r>
              <a:rPr lang="en-US" sz="7346" dirty="0">
                <a:solidFill>
                  <a:srgbClr val="000000"/>
                </a:solidFill>
                <a:latin typeface="TT Hoves Bold"/>
                <a:ea typeface="TT Hoves Bold"/>
                <a:cs typeface="TT Hoves Bold"/>
                <a:sym typeface="TT Hoves Bold"/>
              </a:rPr>
              <a:t>Innovative Features</a:t>
            </a:r>
          </a:p>
        </p:txBody>
      </p:sp>
      <p:sp>
        <p:nvSpPr>
          <p:cNvPr id="7" name="TextBox 7"/>
          <p:cNvSpPr txBox="1"/>
          <p:nvPr/>
        </p:nvSpPr>
        <p:spPr>
          <a:xfrm>
            <a:off x="1028700" y="4877729"/>
            <a:ext cx="6939695" cy="2478415"/>
          </a:xfrm>
          <a:prstGeom prst="rect">
            <a:avLst/>
          </a:prstGeom>
        </p:spPr>
        <p:txBody>
          <a:bodyPr lIns="0" tIns="0" rIns="0" bIns="0" rtlCol="0" anchor="t">
            <a:spAutoFit/>
          </a:bodyPr>
          <a:lstStyle/>
          <a:p>
            <a:pPr marL="906767" lvl="1" indent="-453384" algn="l">
              <a:lnSpc>
                <a:spcPts val="10499"/>
              </a:lnSpc>
              <a:buFont typeface="Arial"/>
              <a:buChar char="•"/>
            </a:pPr>
            <a:r>
              <a:rPr lang="en-US" sz="4199" dirty="0">
                <a:solidFill>
                  <a:srgbClr val="000000"/>
                </a:solidFill>
                <a:latin typeface="TT Hoves"/>
                <a:ea typeface="TT Hoves"/>
                <a:cs typeface="TT Hoves"/>
                <a:sym typeface="TT Hoves"/>
              </a:rPr>
              <a:t>Netflix-like Experience.</a:t>
            </a:r>
          </a:p>
          <a:p>
            <a:pPr marL="906767" lvl="1" indent="-453384" algn="l">
              <a:lnSpc>
                <a:spcPts val="10499"/>
              </a:lnSpc>
              <a:buFont typeface="Arial"/>
              <a:buChar char="•"/>
            </a:pPr>
            <a:r>
              <a:rPr lang="en-US" sz="4199" dirty="0">
                <a:solidFill>
                  <a:srgbClr val="000000"/>
                </a:solidFill>
                <a:latin typeface="TT Hoves"/>
                <a:ea typeface="TT Hoves"/>
                <a:cs typeface="TT Hoves"/>
                <a:sym typeface="TT Hoves"/>
              </a:rPr>
              <a:t>Simplified Navigation.</a:t>
            </a:r>
          </a:p>
        </p:txBody>
      </p:sp>
      <p:grpSp>
        <p:nvGrpSpPr>
          <p:cNvPr id="8" name="Group 8"/>
          <p:cNvGrpSpPr/>
          <p:nvPr/>
        </p:nvGrpSpPr>
        <p:grpSpPr>
          <a:xfrm>
            <a:off x="17482968" y="8660782"/>
            <a:ext cx="805032" cy="597518"/>
            <a:chOff x="0" y="0"/>
            <a:chExt cx="1095080" cy="812800"/>
          </a:xfrm>
        </p:grpSpPr>
        <p:sp>
          <p:nvSpPr>
            <p:cNvPr id="9" name="Freeform 9"/>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10" name="TextBox 10"/>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en-US" sz="1599" dirty="0">
                <a:solidFill>
                  <a:srgbClr val="FFFFFF"/>
                </a:solidFill>
                <a:latin typeface="Open Sans Bold"/>
                <a:ea typeface="Open Sans Bold"/>
                <a:cs typeface="Open Sans Bold"/>
                <a:sym typeface="Open Sans Bold"/>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154665" y="-278009"/>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TextBox 6"/>
          <p:cNvSpPr txBox="1"/>
          <p:nvPr/>
        </p:nvSpPr>
        <p:spPr>
          <a:xfrm>
            <a:off x="3686340" y="1298212"/>
            <a:ext cx="10694728" cy="1251662"/>
          </a:xfrm>
          <a:prstGeom prst="rect">
            <a:avLst/>
          </a:prstGeom>
        </p:spPr>
        <p:txBody>
          <a:bodyPr lIns="0" tIns="0" rIns="0" bIns="0" rtlCol="0" anchor="t">
            <a:spAutoFit/>
          </a:bodyPr>
          <a:lstStyle/>
          <a:p>
            <a:pPr algn="ctr">
              <a:lnSpc>
                <a:spcPts val="10285"/>
              </a:lnSpc>
              <a:spcBef>
                <a:spcPct val="0"/>
              </a:spcBef>
            </a:pPr>
            <a:r>
              <a:rPr lang="en-US" sz="7346" dirty="0">
                <a:solidFill>
                  <a:srgbClr val="000000"/>
                </a:solidFill>
                <a:latin typeface="TT Hoves Bold"/>
                <a:ea typeface="TT Hoves Bold"/>
                <a:cs typeface="TT Hoves Bold"/>
                <a:sym typeface="TT Hoves Bold"/>
              </a:rPr>
              <a:t>Anticipated Challenges</a:t>
            </a:r>
          </a:p>
        </p:txBody>
      </p:sp>
      <p:sp>
        <p:nvSpPr>
          <p:cNvPr id="7" name="TextBox 7"/>
          <p:cNvSpPr txBox="1"/>
          <p:nvPr/>
        </p:nvSpPr>
        <p:spPr>
          <a:xfrm>
            <a:off x="1028700" y="3592714"/>
            <a:ext cx="8115300" cy="5126365"/>
          </a:xfrm>
          <a:prstGeom prst="rect">
            <a:avLst/>
          </a:prstGeom>
        </p:spPr>
        <p:txBody>
          <a:bodyPr lIns="0" tIns="0" rIns="0" bIns="0" rtlCol="0" anchor="t">
            <a:spAutoFit/>
          </a:bodyPr>
          <a:lstStyle/>
          <a:p>
            <a:pPr marL="906767" lvl="1" indent="-453384" algn="l">
              <a:lnSpc>
                <a:spcPts val="10499"/>
              </a:lnSpc>
              <a:buFont typeface="Arial"/>
              <a:buChar char="•"/>
            </a:pPr>
            <a:r>
              <a:rPr lang="en-US" sz="4199" dirty="0">
                <a:solidFill>
                  <a:srgbClr val="000000"/>
                </a:solidFill>
                <a:latin typeface="TT Hoves"/>
                <a:ea typeface="TT Hoves"/>
                <a:cs typeface="TT Hoves"/>
                <a:sym typeface="TT Hoves"/>
              </a:rPr>
              <a:t>Handling High Traffic.</a:t>
            </a:r>
          </a:p>
          <a:p>
            <a:pPr marL="906767" lvl="1" indent="-453384" algn="l">
              <a:lnSpc>
                <a:spcPts val="10499"/>
              </a:lnSpc>
              <a:buFont typeface="Arial"/>
              <a:buChar char="•"/>
            </a:pPr>
            <a:r>
              <a:rPr lang="en-US" sz="4199" dirty="0">
                <a:solidFill>
                  <a:srgbClr val="000000"/>
                </a:solidFill>
                <a:latin typeface="TT Hoves"/>
                <a:ea typeface="TT Hoves"/>
                <a:cs typeface="TT Hoves"/>
                <a:sym typeface="TT Hoves"/>
              </a:rPr>
              <a:t>Ensuring Data Integrity.</a:t>
            </a:r>
          </a:p>
          <a:p>
            <a:pPr marL="906767" lvl="1" indent="-453384" algn="l">
              <a:lnSpc>
                <a:spcPts val="10499"/>
              </a:lnSpc>
              <a:buFont typeface="Arial"/>
              <a:buChar char="•"/>
            </a:pPr>
            <a:r>
              <a:rPr lang="en-US" sz="4199" dirty="0">
                <a:solidFill>
                  <a:srgbClr val="000000"/>
                </a:solidFill>
                <a:latin typeface="TT Hoves"/>
                <a:ea typeface="TT Hoves"/>
                <a:cs typeface="TT Hoves"/>
                <a:sym typeface="TT Hoves"/>
              </a:rPr>
              <a:t>Security Threats.</a:t>
            </a:r>
          </a:p>
          <a:p>
            <a:pPr marL="906767" lvl="1" indent="-453384" algn="l">
              <a:lnSpc>
                <a:spcPts val="10499"/>
              </a:lnSpc>
              <a:buFont typeface="Arial"/>
              <a:buChar char="•"/>
            </a:pPr>
            <a:r>
              <a:rPr lang="en-US" sz="4199" dirty="0">
                <a:solidFill>
                  <a:srgbClr val="000000"/>
                </a:solidFill>
                <a:latin typeface="TT Hoves"/>
                <a:ea typeface="TT Hoves"/>
                <a:cs typeface="TT Hoves"/>
                <a:sym typeface="TT Hoves"/>
              </a:rPr>
              <a:t>User Feedback Integration.</a:t>
            </a:r>
          </a:p>
        </p:txBody>
      </p:sp>
      <p:grpSp>
        <p:nvGrpSpPr>
          <p:cNvPr id="8" name="Group 8"/>
          <p:cNvGrpSpPr/>
          <p:nvPr/>
        </p:nvGrpSpPr>
        <p:grpSpPr>
          <a:xfrm>
            <a:off x="17482968" y="8660782"/>
            <a:ext cx="805032" cy="597518"/>
            <a:chOff x="0" y="0"/>
            <a:chExt cx="1095080" cy="812800"/>
          </a:xfrm>
        </p:grpSpPr>
        <p:sp>
          <p:nvSpPr>
            <p:cNvPr id="9" name="Freeform 9"/>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10" name="TextBox 10"/>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en-US" sz="1599" dirty="0">
                <a:solidFill>
                  <a:srgbClr val="FFFFFF"/>
                </a:solidFill>
                <a:latin typeface="Open Sans Bold"/>
                <a:ea typeface="Open Sans Bold"/>
                <a:cs typeface="Open Sans Bold"/>
                <a:sym typeface="Open Sans Bold"/>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154665" y="-278009"/>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TextBox 6"/>
          <p:cNvSpPr txBox="1"/>
          <p:nvPr/>
        </p:nvSpPr>
        <p:spPr>
          <a:xfrm>
            <a:off x="5442894" y="2228809"/>
            <a:ext cx="7402213" cy="1251662"/>
          </a:xfrm>
          <a:prstGeom prst="rect">
            <a:avLst/>
          </a:prstGeom>
        </p:spPr>
        <p:txBody>
          <a:bodyPr lIns="0" tIns="0" rIns="0" bIns="0" rtlCol="0" anchor="t">
            <a:spAutoFit/>
          </a:bodyPr>
          <a:lstStyle/>
          <a:p>
            <a:pPr algn="ctr">
              <a:lnSpc>
                <a:spcPts val="10285"/>
              </a:lnSpc>
              <a:spcBef>
                <a:spcPct val="0"/>
              </a:spcBef>
            </a:pPr>
            <a:r>
              <a:rPr lang="en-US" sz="7346" dirty="0">
                <a:solidFill>
                  <a:srgbClr val="000000"/>
                </a:solidFill>
                <a:latin typeface="TT Hoves Bold"/>
                <a:ea typeface="TT Hoves Bold"/>
                <a:cs typeface="TT Hoves Bold"/>
                <a:sym typeface="TT Hoves Bold"/>
              </a:rPr>
              <a:t>Testing Process</a:t>
            </a:r>
          </a:p>
        </p:txBody>
      </p:sp>
      <p:sp>
        <p:nvSpPr>
          <p:cNvPr id="7" name="TextBox 7"/>
          <p:cNvSpPr txBox="1"/>
          <p:nvPr/>
        </p:nvSpPr>
        <p:spPr>
          <a:xfrm>
            <a:off x="1028700" y="4193355"/>
            <a:ext cx="5985178" cy="3692526"/>
          </a:xfrm>
          <a:prstGeom prst="rect">
            <a:avLst/>
          </a:prstGeom>
        </p:spPr>
        <p:txBody>
          <a:bodyPr lIns="0" tIns="0" rIns="0" bIns="0" rtlCol="0" anchor="t">
            <a:spAutoFit/>
          </a:bodyPr>
          <a:lstStyle/>
          <a:p>
            <a:pPr marL="755641" lvl="1" indent="-377820" algn="l">
              <a:lnSpc>
                <a:spcPts val="4899"/>
              </a:lnSpc>
              <a:buFont typeface="Arial"/>
              <a:buChar char="•"/>
            </a:pPr>
            <a:r>
              <a:rPr lang="en-US" sz="3499" dirty="0">
                <a:solidFill>
                  <a:srgbClr val="000000"/>
                </a:solidFill>
                <a:latin typeface="TT Hoves"/>
                <a:ea typeface="TT Hoves"/>
                <a:cs typeface="TT Hoves"/>
                <a:sym typeface="TT Hoves"/>
              </a:rPr>
              <a:t>Unit Testing.</a:t>
            </a:r>
          </a:p>
          <a:p>
            <a:pPr marL="755641" lvl="1" indent="-377820" algn="l">
              <a:lnSpc>
                <a:spcPts val="4899"/>
              </a:lnSpc>
              <a:buFont typeface="Arial"/>
              <a:buChar char="•"/>
            </a:pPr>
            <a:r>
              <a:rPr lang="en-US" sz="3499" dirty="0">
                <a:solidFill>
                  <a:srgbClr val="000000"/>
                </a:solidFill>
                <a:latin typeface="TT Hoves"/>
                <a:ea typeface="TT Hoves"/>
                <a:cs typeface="TT Hoves"/>
                <a:sym typeface="TT Hoves"/>
              </a:rPr>
              <a:t>Integration Testing.</a:t>
            </a:r>
          </a:p>
          <a:p>
            <a:pPr marL="755641" lvl="1" indent="-377820" algn="l">
              <a:lnSpc>
                <a:spcPts val="4899"/>
              </a:lnSpc>
              <a:buFont typeface="Arial"/>
              <a:buChar char="•"/>
            </a:pPr>
            <a:r>
              <a:rPr lang="en-US" sz="3499" dirty="0">
                <a:solidFill>
                  <a:srgbClr val="000000"/>
                </a:solidFill>
                <a:latin typeface="TT Hoves"/>
                <a:ea typeface="TT Hoves"/>
                <a:cs typeface="TT Hoves"/>
                <a:sym typeface="TT Hoves"/>
              </a:rPr>
              <a:t>System Testing.</a:t>
            </a:r>
          </a:p>
          <a:p>
            <a:pPr marL="755641" lvl="1" indent="-377820" algn="l">
              <a:lnSpc>
                <a:spcPts val="4899"/>
              </a:lnSpc>
              <a:buFont typeface="Arial"/>
              <a:buChar char="•"/>
            </a:pPr>
            <a:r>
              <a:rPr lang="en-US" sz="3499" dirty="0">
                <a:solidFill>
                  <a:srgbClr val="000000"/>
                </a:solidFill>
                <a:latin typeface="TT Hoves"/>
                <a:ea typeface="TT Hoves"/>
                <a:cs typeface="TT Hoves"/>
                <a:sym typeface="TT Hoves"/>
              </a:rPr>
              <a:t>Performance Testing.</a:t>
            </a:r>
          </a:p>
          <a:p>
            <a:pPr marL="755641" lvl="1" indent="-377820" algn="l">
              <a:lnSpc>
                <a:spcPts val="4899"/>
              </a:lnSpc>
              <a:buFont typeface="Arial"/>
              <a:buChar char="•"/>
            </a:pPr>
            <a:r>
              <a:rPr lang="en-US" sz="3499" dirty="0">
                <a:solidFill>
                  <a:srgbClr val="000000"/>
                </a:solidFill>
                <a:latin typeface="TT Hoves"/>
                <a:ea typeface="TT Hoves"/>
                <a:cs typeface="TT Hoves"/>
                <a:sym typeface="TT Hoves"/>
              </a:rPr>
              <a:t>Security Testing.</a:t>
            </a:r>
          </a:p>
          <a:p>
            <a:pPr marL="755641" lvl="1" indent="-377820" algn="l">
              <a:lnSpc>
                <a:spcPts val="4899"/>
              </a:lnSpc>
              <a:buFont typeface="Arial"/>
              <a:buChar char="•"/>
            </a:pPr>
            <a:r>
              <a:rPr lang="en-US" sz="3499" dirty="0">
                <a:solidFill>
                  <a:srgbClr val="000000"/>
                </a:solidFill>
                <a:latin typeface="TT Hoves"/>
                <a:ea typeface="TT Hoves"/>
                <a:cs typeface="TT Hoves"/>
                <a:sym typeface="TT Hoves"/>
              </a:rPr>
              <a:t>Usability Testing.</a:t>
            </a:r>
          </a:p>
        </p:txBody>
      </p:sp>
      <p:grpSp>
        <p:nvGrpSpPr>
          <p:cNvPr id="8" name="Group 8"/>
          <p:cNvGrpSpPr/>
          <p:nvPr/>
        </p:nvGrpSpPr>
        <p:grpSpPr>
          <a:xfrm>
            <a:off x="17482968" y="8660782"/>
            <a:ext cx="805032" cy="597518"/>
            <a:chOff x="0" y="0"/>
            <a:chExt cx="1095080" cy="812800"/>
          </a:xfrm>
        </p:grpSpPr>
        <p:sp>
          <p:nvSpPr>
            <p:cNvPr id="9" name="Freeform 9"/>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10" name="TextBox 10"/>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en-US" sz="1599" dirty="0">
                <a:solidFill>
                  <a:srgbClr val="FFFFFF"/>
                </a:solidFill>
                <a:latin typeface="Open Sans Bold"/>
                <a:ea typeface="Open Sans Bold"/>
                <a:cs typeface="Open Sans Bold"/>
                <a:sym typeface="Open Sans Bold"/>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154665" y="-278009"/>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TextBox 6"/>
          <p:cNvSpPr txBox="1"/>
          <p:nvPr/>
        </p:nvSpPr>
        <p:spPr>
          <a:xfrm>
            <a:off x="4722144" y="2046287"/>
            <a:ext cx="8843712" cy="1251662"/>
          </a:xfrm>
          <a:prstGeom prst="rect">
            <a:avLst/>
          </a:prstGeom>
        </p:spPr>
        <p:txBody>
          <a:bodyPr lIns="0" tIns="0" rIns="0" bIns="0" rtlCol="0" anchor="t">
            <a:spAutoFit/>
          </a:bodyPr>
          <a:lstStyle/>
          <a:p>
            <a:pPr algn="ctr">
              <a:lnSpc>
                <a:spcPts val="10285"/>
              </a:lnSpc>
              <a:spcBef>
                <a:spcPct val="0"/>
              </a:spcBef>
            </a:pPr>
            <a:r>
              <a:rPr lang="en-US" sz="7346" dirty="0">
                <a:solidFill>
                  <a:srgbClr val="000000"/>
                </a:solidFill>
                <a:latin typeface="TT Hoves Bold"/>
                <a:ea typeface="TT Hoves Bold"/>
                <a:cs typeface="TT Hoves Bold"/>
                <a:sym typeface="TT Hoves Bold"/>
              </a:rPr>
              <a:t>Execution Method</a:t>
            </a:r>
          </a:p>
        </p:txBody>
      </p:sp>
      <p:sp>
        <p:nvSpPr>
          <p:cNvPr id="7" name="TextBox 7"/>
          <p:cNvSpPr txBox="1"/>
          <p:nvPr/>
        </p:nvSpPr>
        <p:spPr>
          <a:xfrm>
            <a:off x="1028700" y="4395357"/>
            <a:ext cx="7602012" cy="3692526"/>
          </a:xfrm>
          <a:prstGeom prst="rect">
            <a:avLst/>
          </a:prstGeom>
        </p:spPr>
        <p:txBody>
          <a:bodyPr lIns="0" tIns="0" rIns="0" bIns="0" rtlCol="0" anchor="t">
            <a:spAutoFit/>
          </a:bodyPr>
          <a:lstStyle/>
          <a:p>
            <a:pPr marL="755641" lvl="1" indent="-377820" algn="l">
              <a:lnSpc>
                <a:spcPts val="4899"/>
              </a:lnSpc>
              <a:buAutoNum type="arabicPeriod"/>
            </a:pPr>
            <a:r>
              <a:rPr lang="en-US" sz="3499" dirty="0">
                <a:solidFill>
                  <a:srgbClr val="000000"/>
                </a:solidFill>
                <a:latin typeface="TT Hoves"/>
                <a:ea typeface="TT Hoves"/>
                <a:cs typeface="TT Hoves"/>
                <a:sym typeface="TT Hoves"/>
              </a:rPr>
              <a:t>Prepare the Test Environment.</a:t>
            </a:r>
          </a:p>
          <a:p>
            <a:pPr marL="755641" lvl="1" indent="-377820" algn="l">
              <a:lnSpc>
                <a:spcPts val="4899"/>
              </a:lnSpc>
              <a:buAutoNum type="arabicPeriod"/>
            </a:pPr>
            <a:r>
              <a:rPr lang="en-US" sz="3499" dirty="0">
                <a:solidFill>
                  <a:srgbClr val="000000"/>
                </a:solidFill>
                <a:latin typeface="TT Hoves"/>
                <a:ea typeface="TT Hoves"/>
                <a:cs typeface="TT Hoves"/>
                <a:sym typeface="TT Hoves"/>
              </a:rPr>
              <a:t>Define Test Cases.</a:t>
            </a:r>
          </a:p>
          <a:p>
            <a:pPr marL="755641" lvl="1" indent="-377820" algn="l">
              <a:lnSpc>
                <a:spcPts val="4899"/>
              </a:lnSpc>
              <a:buAutoNum type="arabicPeriod"/>
            </a:pPr>
            <a:r>
              <a:rPr lang="en-US" sz="3499" dirty="0">
                <a:solidFill>
                  <a:srgbClr val="000000"/>
                </a:solidFill>
                <a:latin typeface="TT Hoves"/>
                <a:ea typeface="TT Hoves"/>
                <a:cs typeface="TT Hoves"/>
                <a:sym typeface="TT Hoves"/>
              </a:rPr>
              <a:t>Execute Tests.</a:t>
            </a:r>
          </a:p>
          <a:p>
            <a:pPr marL="755641" lvl="1" indent="-377820" algn="l">
              <a:lnSpc>
                <a:spcPts val="4899"/>
              </a:lnSpc>
              <a:buAutoNum type="arabicPeriod"/>
            </a:pPr>
            <a:r>
              <a:rPr lang="en-US" sz="3499" dirty="0">
                <a:solidFill>
                  <a:srgbClr val="000000"/>
                </a:solidFill>
                <a:latin typeface="TT Hoves"/>
                <a:ea typeface="TT Hoves"/>
                <a:cs typeface="TT Hoves"/>
                <a:sym typeface="TT Hoves"/>
              </a:rPr>
              <a:t>Analyze Results.</a:t>
            </a:r>
          </a:p>
          <a:p>
            <a:pPr marL="755641" lvl="1" indent="-377820" algn="l">
              <a:lnSpc>
                <a:spcPts val="4899"/>
              </a:lnSpc>
              <a:buAutoNum type="arabicPeriod"/>
            </a:pPr>
            <a:r>
              <a:rPr lang="en-US" sz="3499" dirty="0">
                <a:solidFill>
                  <a:srgbClr val="000000"/>
                </a:solidFill>
                <a:latin typeface="TT Hoves"/>
                <a:ea typeface="TT Hoves"/>
                <a:cs typeface="TT Hoves"/>
                <a:sym typeface="TT Hoves"/>
              </a:rPr>
              <a:t>Address Issues.</a:t>
            </a:r>
          </a:p>
          <a:p>
            <a:pPr marL="755641" lvl="1" indent="-377820" algn="l">
              <a:lnSpc>
                <a:spcPts val="4899"/>
              </a:lnSpc>
              <a:buAutoNum type="arabicPeriod"/>
            </a:pPr>
            <a:r>
              <a:rPr lang="en-US" sz="3499" dirty="0">
                <a:solidFill>
                  <a:srgbClr val="000000"/>
                </a:solidFill>
                <a:latin typeface="TT Hoves"/>
                <a:ea typeface="TT Hoves"/>
                <a:cs typeface="TT Hoves"/>
                <a:sym typeface="TT Hoves"/>
              </a:rPr>
              <a:t>Retest.</a:t>
            </a:r>
          </a:p>
        </p:txBody>
      </p:sp>
      <p:grpSp>
        <p:nvGrpSpPr>
          <p:cNvPr id="8" name="Group 8"/>
          <p:cNvGrpSpPr/>
          <p:nvPr/>
        </p:nvGrpSpPr>
        <p:grpSpPr>
          <a:xfrm>
            <a:off x="17482968" y="8660782"/>
            <a:ext cx="805032" cy="597518"/>
            <a:chOff x="0" y="0"/>
            <a:chExt cx="1095080" cy="812800"/>
          </a:xfrm>
        </p:grpSpPr>
        <p:sp>
          <p:nvSpPr>
            <p:cNvPr id="9" name="Freeform 9"/>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10" name="TextBox 10"/>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7753639" y="8813174"/>
            <a:ext cx="263689" cy="264560"/>
          </a:xfrm>
          <a:prstGeom prst="rect">
            <a:avLst/>
          </a:prstGeom>
        </p:spPr>
        <p:txBody>
          <a:bodyPr lIns="0" tIns="0" rIns="0" bIns="0" rtlCol="0" anchor="t">
            <a:spAutoFit/>
          </a:bodyPr>
          <a:lstStyle/>
          <a:p>
            <a:pPr algn="ctr">
              <a:lnSpc>
                <a:spcPts val="2239"/>
              </a:lnSpc>
              <a:spcBef>
                <a:spcPct val="0"/>
              </a:spcBef>
            </a:pPr>
            <a:r>
              <a:rPr lang="en-US" sz="1599" dirty="0">
                <a:solidFill>
                  <a:srgbClr val="FFFFFF"/>
                </a:solidFill>
                <a:latin typeface="Open Sans Bold"/>
                <a:ea typeface="Open Sans Bold"/>
                <a:cs typeface="Open Sans Bold"/>
                <a:sym typeface="Open Sans Bold"/>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154665" y="-278009"/>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TextBox 6"/>
          <p:cNvSpPr txBox="1"/>
          <p:nvPr/>
        </p:nvSpPr>
        <p:spPr>
          <a:xfrm>
            <a:off x="4333377" y="1298212"/>
            <a:ext cx="9400655" cy="1251662"/>
          </a:xfrm>
          <a:prstGeom prst="rect">
            <a:avLst/>
          </a:prstGeom>
        </p:spPr>
        <p:txBody>
          <a:bodyPr lIns="0" tIns="0" rIns="0" bIns="0" rtlCol="0" anchor="t">
            <a:spAutoFit/>
          </a:bodyPr>
          <a:lstStyle/>
          <a:p>
            <a:pPr algn="ctr">
              <a:lnSpc>
                <a:spcPts val="10285"/>
              </a:lnSpc>
              <a:spcBef>
                <a:spcPct val="0"/>
              </a:spcBef>
            </a:pPr>
            <a:r>
              <a:rPr lang="en-US" sz="7346" dirty="0">
                <a:solidFill>
                  <a:srgbClr val="000000"/>
                </a:solidFill>
                <a:latin typeface="TT Hoves Bold"/>
                <a:ea typeface="TT Hoves Bold"/>
                <a:cs typeface="TT Hoves Bold"/>
                <a:sym typeface="TT Hoves Bold"/>
              </a:rPr>
              <a:t>Expected Results</a:t>
            </a:r>
          </a:p>
        </p:txBody>
      </p:sp>
      <p:sp>
        <p:nvSpPr>
          <p:cNvPr id="7" name="TextBox 7"/>
          <p:cNvSpPr txBox="1"/>
          <p:nvPr/>
        </p:nvSpPr>
        <p:spPr>
          <a:xfrm>
            <a:off x="1028700" y="3651154"/>
            <a:ext cx="7835772" cy="5126365"/>
          </a:xfrm>
          <a:prstGeom prst="rect">
            <a:avLst/>
          </a:prstGeom>
        </p:spPr>
        <p:txBody>
          <a:bodyPr lIns="0" tIns="0" rIns="0" bIns="0" rtlCol="0" anchor="t">
            <a:spAutoFit/>
          </a:bodyPr>
          <a:lstStyle/>
          <a:p>
            <a:pPr marL="906767" lvl="1" indent="-453384" algn="l">
              <a:lnSpc>
                <a:spcPts val="10499"/>
              </a:lnSpc>
              <a:buFont typeface="Arial"/>
              <a:buChar char="•"/>
            </a:pPr>
            <a:r>
              <a:rPr lang="en-US" sz="4199" dirty="0">
                <a:solidFill>
                  <a:srgbClr val="000000"/>
                </a:solidFill>
                <a:latin typeface="TT Hoves"/>
                <a:ea typeface="TT Hoves"/>
                <a:cs typeface="TT Hoves"/>
                <a:sym typeface="TT Hoves"/>
              </a:rPr>
              <a:t>Functional Components.</a:t>
            </a:r>
          </a:p>
          <a:p>
            <a:pPr marL="906767" lvl="1" indent="-453384" algn="l">
              <a:lnSpc>
                <a:spcPts val="10499"/>
              </a:lnSpc>
              <a:buFont typeface="Arial"/>
              <a:buChar char="•"/>
            </a:pPr>
            <a:r>
              <a:rPr lang="en-US" sz="4199" dirty="0">
                <a:solidFill>
                  <a:srgbClr val="000000"/>
                </a:solidFill>
                <a:latin typeface="TT Hoves"/>
                <a:ea typeface="TT Hoves"/>
                <a:cs typeface="TT Hoves"/>
                <a:sym typeface="TT Hoves"/>
              </a:rPr>
              <a:t>High Performance.</a:t>
            </a:r>
          </a:p>
          <a:p>
            <a:pPr marL="906767" lvl="1" indent="-453384" algn="l">
              <a:lnSpc>
                <a:spcPts val="10499"/>
              </a:lnSpc>
              <a:buFont typeface="Arial"/>
              <a:buChar char="•"/>
            </a:pPr>
            <a:r>
              <a:rPr lang="en-US" sz="4199" dirty="0">
                <a:solidFill>
                  <a:srgbClr val="000000"/>
                </a:solidFill>
                <a:latin typeface="TT Hoves"/>
                <a:ea typeface="TT Hoves"/>
                <a:cs typeface="TT Hoves"/>
                <a:sym typeface="TT Hoves"/>
              </a:rPr>
              <a:t>Secure Data</a:t>
            </a:r>
          </a:p>
          <a:p>
            <a:pPr marL="906767" lvl="1" indent="-453384" algn="l">
              <a:lnSpc>
                <a:spcPts val="10499"/>
              </a:lnSpc>
              <a:buFont typeface="Arial"/>
              <a:buChar char="•"/>
            </a:pPr>
            <a:r>
              <a:rPr lang="en-US" sz="4199" dirty="0">
                <a:solidFill>
                  <a:srgbClr val="000000"/>
                </a:solidFill>
                <a:latin typeface="TT Hoves"/>
                <a:ea typeface="TT Hoves"/>
                <a:cs typeface="TT Hoves"/>
                <a:sym typeface="TT Hoves"/>
              </a:rPr>
              <a:t>User-Friendly Interface</a:t>
            </a:r>
          </a:p>
        </p:txBody>
      </p:sp>
      <p:grpSp>
        <p:nvGrpSpPr>
          <p:cNvPr id="8" name="Group 8"/>
          <p:cNvGrpSpPr/>
          <p:nvPr/>
        </p:nvGrpSpPr>
        <p:grpSpPr>
          <a:xfrm>
            <a:off x="17482968" y="8660782"/>
            <a:ext cx="805032" cy="597518"/>
            <a:chOff x="0" y="0"/>
            <a:chExt cx="1095080" cy="812800"/>
          </a:xfrm>
        </p:grpSpPr>
        <p:sp>
          <p:nvSpPr>
            <p:cNvPr id="9" name="Freeform 9"/>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10" name="TextBox 10"/>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he-IL" sz="1599" dirty="0">
                <a:solidFill>
                  <a:srgbClr val="FFFFFF"/>
                </a:solidFill>
                <a:latin typeface="Open Sans Bold"/>
                <a:ea typeface="Open Sans Bold"/>
                <a:cs typeface="Open Sans Bold"/>
                <a:sym typeface="Open Sans Bold"/>
              </a:rPr>
              <a:t>20</a:t>
            </a:r>
            <a:endParaRPr lang="en-US" sz="1599" dirty="0">
              <a:solidFill>
                <a:srgbClr val="FFFFFF"/>
              </a:solidFill>
              <a:latin typeface="Open Sans Bold"/>
              <a:ea typeface="Open Sans Bold"/>
              <a:cs typeface="Open Sans Bold"/>
              <a:sym typeface="Open Sans Bo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IL"/>
          </a:p>
        </p:txBody>
      </p:sp>
      <p:grpSp>
        <p:nvGrpSpPr>
          <p:cNvPr id="3" name="Group 3"/>
          <p:cNvGrpSpPr/>
          <p:nvPr/>
        </p:nvGrpSpPr>
        <p:grpSpPr>
          <a:xfrm>
            <a:off x="-269329" y="-278009"/>
            <a:ext cx="18826659" cy="10843018"/>
            <a:chOff x="0" y="0"/>
            <a:chExt cx="4958462" cy="2855774"/>
          </a:xfrm>
        </p:grpSpPr>
        <p:sp>
          <p:nvSpPr>
            <p:cNvPr id="4" name="Freeform 4"/>
            <p:cNvSpPr/>
            <p:nvPr/>
          </p:nvSpPr>
          <p:spPr>
            <a:xfrm>
              <a:off x="0" y="0"/>
              <a:ext cx="4958462" cy="2855774"/>
            </a:xfrm>
            <a:custGeom>
              <a:avLst/>
              <a:gdLst/>
              <a:ahLst/>
              <a:cxnLst/>
              <a:rect l="l" t="t" r="r" b="b"/>
              <a:pathLst>
                <a:path w="4958462" h="2855774">
                  <a:moveTo>
                    <a:pt x="0" y="0"/>
                  </a:moveTo>
                  <a:lnTo>
                    <a:pt x="4958462" y="0"/>
                  </a:lnTo>
                  <a:lnTo>
                    <a:pt x="4958462" y="2855774"/>
                  </a:lnTo>
                  <a:lnTo>
                    <a:pt x="0" y="2855774"/>
                  </a:lnTo>
                  <a:close/>
                </a:path>
              </a:pathLst>
            </a:custGeom>
            <a:solidFill>
              <a:srgbClr val="F4E5E5">
                <a:alpha val="91765"/>
              </a:srgbClr>
            </a:solidFill>
          </p:spPr>
          <p:txBody>
            <a:bodyPr/>
            <a:lstStyle/>
            <a:p>
              <a:endParaRPr lang="en-IL"/>
            </a:p>
          </p:txBody>
        </p:sp>
        <p:sp>
          <p:nvSpPr>
            <p:cNvPr id="5" name="TextBox 5"/>
            <p:cNvSpPr txBox="1"/>
            <p:nvPr/>
          </p:nvSpPr>
          <p:spPr>
            <a:xfrm>
              <a:off x="0" y="-57150"/>
              <a:ext cx="4958462" cy="2912924"/>
            </a:xfrm>
            <a:prstGeom prst="rect">
              <a:avLst/>
            </a:prstGeom>
          </p:spPr>
          <p:txBody>
            <a:bodyPr lIns="50800" tIns="50800" rIns="50800" bIns="50800" rtlCol="0" anchor="ctr"/>
            <a:lstStyle/>
            <a:p>
              <a:pPr algn="ctr">
                <a:lnSpc>
                  <a:spcPts val="3431"/>
                </a:lnSpc>
              </a:pPr>
              <a:endParaRPr/>
            </a:p>
          </p:txBody>
        </p:sp>
      </p:grpSp>
      <p:sp>
        <p:nvSpPr>
          <p:cNvPr id="6" name="Freeform 6"/>
          <p:cNvSpPr/>
          <p:nvPr/>
        </p:nvSpPr>
        <p:spPr>
          <a:xfrm>
            <a:off x="4554551" y="5216618"/>
            <a:ext cx="9408228" cy="3116290"/>
          </a:xfrm>
          <a:custGeom>
            <a:avLst/>
            <a:gdLst/>
            <a:ahLst/>
            <a:cxnLst/>
            <a:rect l="l" t="t" r="r" b="b"/>
            <a:pathLst>
              <a:path w="9408228" h="3116290">
                <a:moveTo>
                  <a:pt x="0" y="0"/>
                </a:moveTo>
                <a:lnTo>
                  <a:pt x="9408228" y="0"/>
                </a:lnTo>
                <a:lnTo>
                  <a:pt x="9408228" y="3116290"/>
                </a:lnTo>
                <a:lnTo>
                  <a:pt x="0" y="3116290"/>
                </a:lnTo>
                <a:lnTo>
                  <a:pt x="0" y="0"/>
                </a:lnTo>
                <a:close/>
              </a:path>
            </a:pathLst>
          </a:custGeom>
          <a:blipFill>
            <a:blip r:embed="rId4"/>
            <a:stretch>
              <a:fillRect/>
            </a:stretch>
          </a:blipFill>
        </p:spPr>
        <p:txBody>
          <a:bodyPr/>
          <a:lstStyle/>
          <a:p>
            <a:endParaRPr lang="en-IL"/>
          </a:p>
        </p:txBody>
      </p:sp>
      <p:sp>
        <p:nvSpPr>
          <p:cNvPr id="7" name="TextBox 7"/>
          <p:cNvSpPr txBox="1"/>
          <p:nvPr/>
        </p:nvSpPr>
        <p:spPr>
          <a:xfrm>
            <a:off x="618785" y="1744542"/>
            <a:ext cx="17050430" cy="1891130"/>
          </a:xfrm>
          <a:prstGeom prst="rect">
            <a:avLst/>
          </a:prstGeom>
        </p:spPr>
        <p:txBody>
          <a:bodyPr lIns="0" tIns="0" rIns="0" bIns="0" rtlCol="0" anchor="t">
            <a:spAutoFit/>
          </a:bodyPr>
          <a:lstStyle/>
          <a:p>
            <a:pPr algn="ctr">
              <a:lnSpc>
                <a:spcPts val="15464"/>
              </a:lnSpc>
              <a:spcBef>
                <a:spcPct val="0"/>
              </a:spcBef>
            </a:pPr>
            <a:r>
              <a:rPr lang="en-US" sz="11046">
                <a:solidFill>
                  <a:srgbClr val="000000"/>
                </a:solidFill>
                <a:latin typeface="TT Hoves Bold"/>
                <a:ea typeface="TT Hoves Bold"/>
                <a:cs typeface="TT Hoves Bold"/>
                <a:sym typeface="TT Hoves Bold"/>
              </a:rPr>
              <a:t>Thank  you for listening.</a:t>
            </a:r>
          </a:p>
        </p:txBody>
      </p:sp>
      <p:grpSp>
        <p:nvGrpSpPr>
          <p:cNvPr id="8" name="Group 8"/>
          <p:cNvGrpSpPr/>
          <p:nvPr/>
        </p:nvGrpSpPr>
        <p:grpSpPr>
          <a:xfrm>
            <a:off x="17482968" y="8660782"/>
            <a:ext cx="805032" cy="597518"/>
            <a:chOff x="0" y="0"/>
            <a:chExt cx="1095080" cy="812800"/>
          </a:xfrm>
        </p:grpSpPr>
        <p:sp>
          <p:nvSpPr>
            <p:cNvPr id="9" name="Freeform 9"/>
            <p:cNvSpPr/>
            <p:nvPr/>
          </p:nvSpPr>
          <p:spPr>
            <a:xfrm>
              <a:off x="0" y="0"/>
              <a:ext cx="1095080" cy="812800"/>
            </a:xfrm>
            <a:custGeom>
              <a:avLst/>
              <a:gdLst/>
              <a:ahLst/>
              <a:cxnLst/>
              <a:rect l="l" t="t" r="r" b="b"/>
              <a:pathLst>
                <a:path w="1095080" h="812800">
                  <a:moveTo>
                    <a:pt x="0" y="0"/>
                  </a:moveTo>
                  <a:lnTo>
                    <a:pt x="1095080" y="0"/>
                  </a:lnTo>
                  <a:lnTo>
                    <a:pt x="1095080" y="812800"/>
                  </a:lnTo>
                  <a:lnTo>
                    <a:pt x="0" y="812800"/>
                  </a:lnTo>
                  <a:close/>
                </a:path>
              </a:pathLst>
            </a:custGeom>
            <a:solidFill>
              <a:srgbClr val="B4A1A1"/>
            </a:solidFill>
          </p:spPr>
          <p:txBody>
            <a:bodyPr/>
            <a:lstStyle/>
            <a:p>
              <a:endParaRPr lang="en-IL"/>
            </a:p>
          </p:txBody>
        </p:sp>
        <p:sp>
          <p:nvSpPr>
            <p:cNvPr id="10" name="TextBox 10"/>
            <p:cNvSpPr txBox="1"/>
            <p:nvPr/>
          </p:nvSpPr>
          <p:spPr>
            <a:xfrm>
              <a:off x="0" y="-38100"/>
              <a:ext cx="1095080" cy="8509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7753639" y="8813174"/>
            <a:ext cx="263689" cy="264160"/>
          </a:xfrm>
          <a:prstGeom prst="rect">
            <a:avLst/>
          </a:prstGeom>
        </p:spPr>
        <p:txBody>
          <a:bodyPr lIns="0" tIns="0" rIns="0" bIns="0" rtlCol="0" anchor="t">
            <a:spAutoFit/>
          </a:bodyPr>
          <a:lstStyle/>
          <a:p>
            <a:pPr algn="ctr">
              <a:lnSpc>
                <a:spcPts val="2239"/>
              </a:lnSpc>
              <a:spcBef>
                <a:spcPct val="0"/>
              </a:spcBef>
            </a:pPr>
            <a:r>
              <a:rPr lang="he-IL" sz="1599" dirty="0">
                <a:solidFill>
                  <a:srgbClr val="FFFFFF"/>
                </a:solidFill>
                <a:latin typeface="Open Sans Bold"/>
                <a:ea typeface="Open Sans Bold"/>
                <a:cs typeface="Open Sans Bold"/>
                <a:sym typeface="Open Sans Bold"/>
              </a:rPr>
              <a:t>21</a:t>
            </a:r>
            <a:endParaRPr lang="en-US" sz="1599" dirty="0">
              <a:solidFill>
                <a:srgbClr val="FFFFFF"/>
              </a:solidFill>
              <a:latin typeface="Open Sans Bold"/>
              <a:ea typeface="Open Sans Bold"/>
              <a:cs typeface="Open Sans Bold"/>
              <a:sym typeface="Open Sans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8922</TotalTime>
  <Words>1785</Words>
  <Application>Microsoft Office PowerPoint</Application>
  <PresentationFormat>Custom</PresentationFormat>
  <Paragraphs>210</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Aptos</vt:lpstr>
      <vt:lpstr>TT Hoves</vt:lpstr>
      <vt:lpstr>Open Sans Bold</vt:lpstr>
      <vt:lpstr>TT Hoves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Computer Presentation</dc:title>
  <dc:creator>ofek ben avraham</dc:creator>
  <cp:lastModifiedBy>אופק בן אברהם</cp:lastModifiedBy>
  <cp:revision>57</cp:revision>
  <dcterms:created xsi:type="dcterms:W3CDTF">2006-08-16T00:00:00Z</dcterms:created>
  <dcterms:modified xsi:type="dcterms:W3CDTF">2024-09-07T17:06:57Z</dcterms:modified>
  <dc:identifier>DAGPCriR0_U</dc:identifier>
</cp:coreProperties>
</file>